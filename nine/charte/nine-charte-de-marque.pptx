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24600" y="762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2600" y="762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0600" y="762000"/>
            <a:ext cx="1701800" cy="17018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2540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02600" y="2540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80600" y="2540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4318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02600" y="4318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80600" y="4318000"/>
            <a:ext cx="1701800" cy="1701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98500"/>
            <a:ext cx="3556000" cy="13260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2286000"/>
            <a:ext cx="5461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800" b="0" i="0">
                <a:solidFill>
                  <a:srgbClr val="1F1C18"/>
                </a:solidFill>
                <a:latin typeface="DM Serif Display"/>
              </a:rPr>
              <a:t>Charte de marque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91000"/>
            <a:ext cx="4826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1C18"/>
                </a:solidFill>
                <a:latin typeface="DM Sans"/>
              </a:rPr>
              <a:t>Le logo, les couleurs, la voix et la manière de tout ranger au carré.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5588000"/>
            <a:ext cx="2457863" cy="26543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588000"/>
            <a:ext cx="2457863" cy="26543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 spc="154">
                <a:solidFill>
                  <a:srgbClr val="F4EEE4"/>
                </a:solidFill>
                <a:latin typeface="DM Sans"/>
              </a:rPr>
              <a:t>VERSION 1 · OCTOBRE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9690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B645B"/>
                </a:solidFill>
                <a:latin typeface="DM Sans"/>
              </a:rPr>
              <a:t>Un document de travail de Nine et Julien, à valider ensemble.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4826000" cy="1584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1F1C18"/>
                </a:solidFill>
                <a:latin typeface="DM Serif Display"/>
              </a:rPr>
              <a:t>Neuf chapitres.
Forcément.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40000"/>
            <a:ext cx="4064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Nine, c'est un prénom, un chiffre et une promesse de neuf. La charte suit le même plan : neuf cases, une par chapitre. Celle du coin, en haut à droite, c'est le logo.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698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7400" y="825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1765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La marque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Mission, promesse, offres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0" y="698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825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65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La voix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Comment parle Nine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0" y="698500"/>
            <a:ext cx="1828800" cy="18288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7400" y="825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7400" y="1765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Le logo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Le point carré, le symbole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2603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7400" y="2730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3670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La couleur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Une touche, pas une couche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0" y="2603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30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70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La typographie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Deux polices, pas trois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5000" y="2603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7400" y="2730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7400" y="3670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La grille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Tout tient dans neuf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4508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7400" y="4635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5575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La photo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Lumière du jour, de 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0" y="4508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635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575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Le trait et la matière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Pictos, étiquettes, kraft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5000" y="4508500"/>
            <a:ext cx="1828800" cy="18288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7400" y="46355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7400" y="5575300"/>
            <a:ext cx="152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En pratique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Cartes, flyers, réseaux,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Avant de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255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Une marque se range
comme un placard.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73025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1C18"/>
                </a:solidFill>
                <a:latin typeface="DM Sans"/>
              </a:rPr>
              <a:t>Chaque chose à sa place, et une place pour chaque chose. Cette charte dit où va quoi : le logo, les couleurs, les mots. Pour que, d'un post Instagram à une carte de visite, on reconnaisse Nine avant même d'avoir lu son nom.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4445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600" y="46355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Pour Nine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0"/>
            <a:ext cx="32004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Les visuels Canva, les réseaux, les légendes, les messages aux clients.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68800" y="4445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368800" y="46355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Pour Julien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800" y="5080000"/>
            <a:ext cx="32004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Le site, les flyers, la prospection, les documents (devis, CGV, fiches).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8000" y="4445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28000" y="46355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Pour les autres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5080000"/>
            <a:ext cx="32004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Imprimeur, brodeur de tenues, partenaires : la page 04 et le chapitre 03 suffisent.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230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Dans Canva : chaque texte, forme et couleur de ce document se modifie. Les photos sont des emplacements à remplacer.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La marque en un coup d'œil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4445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La marque
en neuf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3937000" cy="2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Chaque case est un élément de la marque. Seul, aucun ne suffit. Ensemble, ils font Nine. Si vous ne deviez garder qu'une page de ce document, ce serait celle-ci.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8600" y="698500"/>
            <a:ext cx="2040467" cy="18161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0" y="850900"/>
            <a:ext cx="1735667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4EEE4"/>
                </a:solidFill>
                <a:latin typeface="DM Serif Display"/>
              </a:rPr>
              <a:t>Vous n'aimez pas ranger. Nine, 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0" y="21971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BF9465"/>
                </a:solidFill>
                <a:latin typeface="DM Sans"/>
              </a:rPr>
              <a:t>LA VOIX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5267" y="698500"/>
            <a:ext cx="2040467" cy="18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7667" y="723900"/>
            <a:ext cx="2040467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0" b="0" i="0">
                <a:solidFill>
                  <a:srgbClr val="1F1C18"/>
                </a:solidFill>
                <a:latin typeface="DM Serif Display"/>
              </a:rPr>
              <a:t>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7667" y="21971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6B645B"/>
                </a:solidFill>
                <a:latin typeface="DM Sans"/>
              </a:rPr>
              <a:t>LA TYPOGRAPHIE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41933" y="698500"/>
            <a:ext cx="2040467" cy="18161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nine-logo-sur-to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833" y="1143000"/>
            <a:ext cx="1608667" cy="5998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4333" y="21971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LE 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8600" y="2590800"/>
            <a:ext cx="897805" cy="181610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6405" y="2590800"/>
            <a:ext cx="530521" cy="18161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36927" y="2590800"/>
            <a:ext cx="244856" cy="18161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81783" y="2590800"/>
            <a:ext cx="204047" cy="18161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85829" y="2590800"/>
            <a:ext cx="163237" cy="18161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8600" y="2590800"/>
            <a:ext cx="2040467" cy="1816100"/>
          </a:xfrm>
          <a:prstGeom prst="rect">
            <a:avLst/>
          </a:prstGeom>
          <a:noFill/>
          <a:ln w="9525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0200" y="4038600"/>
            <a:ext cx="1079500" cy="25400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1000" y="40894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LA COULEUR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5267" y="2590800"/>
            <a:ext cx="2040467" cy="18161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105422" y="2590800"/>
            <a:ext cx="0" cy="1816100"/>
          </a:xfrm>
          <a:prstGeom prst="line">
            <a:avLst/>
          </a:prstGeom>
          <a:ln w="9525">
            <a:solidFill>
              <a:srgbClr val="1F1C18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425267" y="3196167"/>
            <a:ext cx="2040466" cy="0"/>
          </a:xfrm>
          <a:prstGeom prst="line">
            <a:avLst/>
          </a:prstGeom>
          <a:ln w="9525">
            <a:solidFill>
              <a:srgbClr val="1F1C18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8785578" y="2590800"/>
            <a:ext cx="0" cy="1816100"/>
          </a:xfrm>
          <a:prstGeom prst="line">
            <a:avLst/>
          </a:prstGeom>
          <a:ln w="9525">
            <a:solidFill>
              <a:srgbClr val="1F1C18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425267" y="3801533"/>
            <a:ext cx="2040466" cy="0"/>
          </a:xfrm>
          <a:prstGeom prst="line">
            <a:avLst/>
          </a:prstGeom>
          <a:ln w="9525">
            <a:solidFill>
              <a:srgbClr val="1F1C18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8785578" y="2590800"/>
            <a:ext cx="680156" cy="605367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01467" y="4038600"/>
            <a:ext cx="889000" cy="25400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52267" y="40894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LA GRILLE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41933" y="2590800"/>
            <a:ext cx="2040467" cy="18161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541933" y="2590800"/>
            <a:ext cx="2040467" cy="18161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9541933" y="2590800"/>
            <a:ext cx="2040467" cy="18161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9668933" y="3181350"/>
            <a:ext cx="1786467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8933" y="3181350"/>
            <a:ext cx="1786467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De face, en lumière du jour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4333" y="40894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LA PHOTO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8600" y="4483100"/>
            <a:ext cx="2040467" cy="18161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61000" y="4673600"/>
            <a:ext cx="1106892" cy="28956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1000" y="4673600"/>
            <a:ext cx="1106892" cy="289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 spc="168">
                <a:solidFill>
                  <a:srgbClr val="F4EEE4"/>
                </a:solidFill>
                <a:latin typeface="DM Sans"/>
              </a:rPr>
              <a:t>À GARDER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1000" y="5029200"/>
            <a:ext cx="1125793" cy="28956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1000" y="5029200"/>
            <a:ext cx="1125793" cy="289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 spc="168">
                <a:solidFill>
                  <a:srgbClr val="F4EEE4"/>
                </a:solidFill>
                <a:latin typeface="DM Sans"/>
              </a:rPr>
              <a:t>À DONNER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61000" y="5384800"/>
            <a:ext cx="917306" cy="28956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61000" y="5384800"/>
            <a:ext cx="917306" cy="289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 spc="168">
                <a:solidFill>
                  <a:srgbClr val="1F1C18"/>
                </a:solidFill>
                <a:latin typeface="DM Sans"/>
              </a:rPr>
              <a:t>À JETER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1000" y="59817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LA MATIÈRE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25267" y="4483100"/>
            <a:ext cx="2040467" cy="18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37500" y="4864100"/>
            <a:ext cx="1016000" cy="228600"/>
          </a:xfrm>
          <a:prstGeom prst="rect">
            <a:avLst/>
          </a:prstGeom>
          <a:noFill/>
          <a:ln w="254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01000" y="5092700"/>
            <a:ext cx="889000" cy="635000"/>
          </a:xfrm>
          <a:prstGeom prst="rect">
            <a:avLst/>
          </a:prstGeom>
          <a:noFill/>
          <a:ln w="254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86750" y="5283200"/>
            <a:ext cx="317500" cy="152400"/>
          </a:xfrm>
          <a:prstGeom prst="rect">
            <a:avLst/>
          </a:prstGeom>
          <a:noFill/>
          <a:ln w="254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7667" y="59817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6B645B"/>
                </a:solidFill>
                <a:latin typeface="DM Sans"/>
              </a:rPr>
              <a:t>LE TRAIT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41933" y="4483100"/>
            <a:ext cx="2040467" cy="18161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32433" y="5334000"/>
            <a:ext cx="355600" cy="3556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76933" y="5194300"/>
            <a:ext cx="355600" cy="3556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21433" y="5054600"/>
            <a:ext cx="355600" cy="3556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4333" y="5981700"/>
            <a:ext cx="2040467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LE MOUVEMENT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La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Avant les couleurs et le logo : ce que Nine fait, pour qui, et pourquoi personne d'autre ne le fait comme 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Mission, vision, ambition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La promesse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Trois mots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60706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01.4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La place de Nine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01.5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 regard de 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01.6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01.7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offres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Pourquoi Nine existe.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095500"/>
            <a:ext cx="3454400" cy="3556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2298700"/>
            <a:ext cx="878867" cy="26543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2298700"/>
            <a:ext cx="878867" cy="26543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 spc="154">
                <a:solidFill>
                  <a:srgbClr val="1F1C18"/>
                </a:solidFill>
                <a:latin typeface="DM Sans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857500"/>
            <a:ext cx="3048000" cy="266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2300" b="0" i="0">
                <a:solidFill>
                  <a:srgbClr val="F4EEE4"/>
                </a:solidFill>
                <a:latin typeface="DM Serif Display"/>
              </a:rPr>
              <a:t>Ranger chez ceux qui n'ont pas envie de le faire. Sans devis, sans leçon, sans qu'ils aient à lever le petit doigt.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800" y="2095500"/>
            <a:ext cx="3454400" cy="35560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298700"/>
            <a:ext cx="749771" cy="26543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98700"/>
            <a:ext cx="749771" cy="26543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 spc="154">
                <a:solidFill>
                  <a:srgbClr val="F4EEE4"/>
                </a:solidFill>
                <a:latin typeface="DM Sans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57500"/>
            <a:ext cx="3048000" cy="266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2300" b="0" i="0">
                <a:solidFill>
                  <a:srgbClr val="1F1C18"/>
                </a:solidFill>
                <a:latin typeface="DM Serif Display"/>
              </a:rPr>
              <a:t>Que ranger se délègue comme le ménage ou le repassage : on réserve un créneau, et c'est réglé.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0" y="2095500"/>
            <a:ext cx="3454400" cy="35560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1200" y="2298700"/>
            <a:ext cx="1001215" cy="26543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0" y="2298700"/>
            <a:ext cx="1001215" cy="26543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 spc="154">
                <a:solidFill>
                  <a:srgbClr val="F4EEE4"/>
                </a:solidFill>
                <a:latin typeface="DM Sans"/>
              </a:rPr>
              <a:t>AMBITION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2857500"/>
            <a:ext cx="3048000" cy="266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2300" b="0" i="0">
                <a:solidFill>
                  <a:srgbClr val="1F1C18"/>
                </a:solidFill>
                <a:latin typeface="DM Serif Display"/>
              </a:rPr>
              <a:t>Devenir le premier réflexe entre Saint-Nazaire et Nantes dès que c'est « un peu le bazar ». Après un premier essai, on revient.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969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B645B"/>
                </a:solidFill>
                <a:latin typeface="DM Sans"/>
              </a:rPr>
              <a:t>La mission dit ce qu'on fait demain matin. La vision, ce qu'on change. L'ambition, où on veut être dans trois 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4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1F1C18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1F1C18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1F1C18"/>
                </a:solidFill>
                <a:latin typeface="DM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85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1F1C18"/>
                </a:solidFill>
                <a:latin typeface="DM Sans"/>
              </a:rPr>
              <a:t>LA PROMESSE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143000"/>
            <a:ext cx="10795000" cy="292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1500" b="0" i="0">
                <a:solidFill>
                  <a:srgbClr val="1F1C18"/>
                </a:solidFill>
                <a:latin typeface="DM Serif Display"/>
              </a:rPr>
              <a:t>Vous réservez.
Nine range.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4699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600" y="4826000"/>
            <a:ext cx="3454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1F1C18"/>
                </a:solidFill>
                <a:latin typeface="DM Sans"/>
              </a:rPr>
              <a:t>1 · LE RÉSULTAT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111750"/>
            <a:ext cx="34544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F1C18"/>
                </a:solidFill>
                <a:latin typeface="DM Serif Display"/>
              </a:rPr>
              <a:t>Un coin de chez vous rangé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9690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1C18"/>
                </a:solidFill>
                <a:latin typeface="DM Sans"/>
              </a:rPr>
              <a:t>Ce que le client obtient.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68800" y="4699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68800" y="4826000"/>
            <a:ext cx="3454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1F1C18"/>
                </a:solidFill>
                <a:latin typeface="DM Sans"/>
              </a:rPr>
              <a:t>2 · LE DÉLAI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800" y="5111750"/>
            <a:ext cx="34544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F1C18"/>
                </a:solidFill>
                <a:latin typeface="DM Serif Display"/>
              </a:rPr>
              <a:t>en deux heures,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800" y="59690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1C18"/>
                </a:solidFill>
                <a:latin typeface="DM Sans"/>
              </a:rPr>
              <a:t>Combien de temps ça prend.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28000" y="4699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128000" y="4826000"/>
            <a:ext cx="3454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1F1C18"/>
                </a:solidFill>
                <a:latin typeface="DM Sans"/>
              </a:rPr>
              <a:t>3 · ZÉRO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5111750"/>
            <a:ext cx="34544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F1C18"/>
                </a:solidFill>
                <a:latin typeface="DM Serif Display"/>
              </a:rPr>
              <a:t>sans lever le petit doigt.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59690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1C18"/>
                </a:solidFill>
                <a:latin typeface="DM Sans"/>
              </a:rPr>
              <a:t>Ce qu'il a à faire : rien.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255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Trois mots qui
tranchent les débats.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6000"/>
            <a:ext cx="698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1C18"/>
                </a:solidFill>
                <a:latin typeface="DM Sans"/>
              </a:rPr>
              <a:t>Quand on hésite entre deux visuels, deux phrases ou deux idées, on garde celle qui coche les trois.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5000"/>
            <a:ext cx="3454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200" b="0" i="0">
                <a:solidFill>
                  <a:srgbClr val="E5452A"/>
                </a:solidFill>
                <a:latin typeface="DM Serif Display"/>
              </a:rPr>
              <a:t>Limpide.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73500"/>
            <a:ext cx="3327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Une offre se comprend en une phrase. Un visuel se lit en une seconde.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" y="4826000"/>
            <a:ext cx="34544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36270" y="5077206"/>
            <a:ext cx="44450" cy="4267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80720" y="5023866"/>
            <a:ext cx="85344" cy="9601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89000" y="498475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« Un coin. 2 heures. 100 €. 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8716" y="5563616"/>
            <a:ext cx="99568" cy="99568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648716" y="5563616"/>
            <a:ext cx="99568" cy="99568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89000" y="552450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45B"/>
                </a:solidFill>
                <a:latin typeface="DM Sans"/>
              </a:rPr>
              <a:t>« Notre approche holistique de l'espace 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800" y="3175000"/>
            <a:ext cx="3454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200" b="0" i="0">
                <a:solidFill>
                  <a:srgbClr val="1F1C18"/>
                </a:solidFill>
                <a:latin typeface="DM Serif Display"/>
              </a:rPr>
              <a:t>Carré.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800" y="3873500"/>
            <a:ext cx="3327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Tout a sa place : grille, symétrie, alignements. Comme les LEGO de Nine.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68800" y="4826000"/>
            <a:ext cx="34544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4395470" y="5077206"/>
            <a:ext cx="44450" cy="4267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439920" y="5023866"/>
            <a:ext cx="85344" cy="9601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648200" y="498475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Une grille, des angles droits, du vide.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07916" y="5563616"/>
            <a:ext cx="99568" cy="99568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4407916" y="5563616"/>
            <a:ext cx="99568" cy="99568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648200" y="552450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45B"/>
                </a:solidFill>
                <a:latin typeface="DM Sans"/>
              </a:rPr>
              <a:t>Des formes qui partent dans tous les sens.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3175000"/>
            <a:ext cx="3454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200" b="0" i="0">
                <a:solidFill>
                  <a:srgbClr val="1F1C18"/>
                </a:solidFill>
                <a:latin typeface="DM Serif Display"/>
              </a:rPr>
              <a:t>Discret.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3873500"/>
            <a:ext cx="3327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On entre chez les gens. On ne juge pas, on ne montre pas, on ne raconte pas.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28000" y="4826000"/>
            <a:ext cx="34544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154670" y="5077206"/>
            <a:ext cx="44450" cy="4267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8199120" y="5023866"/>
            <a:ext cx="85344" cy="9601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8407400" y="498475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Des mains, des tiroirs, des étagères.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67116" y="5563616"/>
            <a:ext cx="99568" cy="99568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8167116" y="5563616"/>
            <a:ext cx="99568" cy="99568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8407400" y="5524500"/>
            <a:ext cx="3175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45B"/>
                </a:solidFill>
                <a:latin typeface="DM Sans"/>
              </a:rPr>
              <a:t>Le visage ou l'adresse d'un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9525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Ce qu'on vend :
du temps, et un coin rangé.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59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Pas une liste de tâches, pas une « transformation de vie ». Le client réserve comme il réserverait une femme de ménage, et Nine fait le travail. Elle ne vient pas lui apprendre à ranger : elle range.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556000"/>
            <a:ext cx="3454400" cy="25400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37592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F1C18"/>
                </a:solidFill>
                <a:latin typeface="DM Serif Display"/>
              </a:rPr>
              <a:t>Les home organisers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254500"/>
            <a:ext cx="3048000" cy="88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Un appel ou une visite, un diagnostic, puis un devis.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5880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F1C18"/>
                </a:solidFill>
                <a:latin typeface="DM Sans"/>
              </a:rPr>
              <a:t>60 à 70 € de l'heure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3302000"/>
            <a:ext cx="3454400" cy="2794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052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F1C18"/>
                </a:solidFill>
                <a:latin typeface="DM Serif Display"/>
              </a:rPr>
              <a:t>Nine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00500"/>
            <a:ext cx="3048000" cy="88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On réserve un créneau en trois clics. Prix affiché, pas de devis.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880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F1C18"/>
                </a:solidFill>
                <a:latin typeface="DM Sans"/>
              </a:rPr>
              <a:t>50 € de l'heure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0" y="3556000"/>
            <a:ext cx="3454400" cy="25400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0" y="37592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F1C18"/>
                </a:solidFill>
                <a:latin typeface="DM Serif Display"/>
              </a:rPr>
              <a:t>Les plateformes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4254500"/>
            <a:ext cx="3048000" cy="88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Des particuliers non spécialisés, réservés à la tâche.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55880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F1C18"/>
                </a:solidFill>
                <a:latin typeface="DM Sans"/>
              </a:rPr>
              <a:t>dès 12 € de l'heure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350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45B"/>
                </a:solidFill>
                <a:latin typeface="DM Sans"/>
              </a:rPr>
              <a:t>Prix publiés relevés le 30 octobre 2026 autour de Nantes et Saint-Nazaire (voir le business plan).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F4EEE4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F4EEE4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F4EEE4"/>
                </a:solidFill>
                <a:latin typeface="DM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85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BF9465"/>
                </a:solidFill>
                <a:latin typeface="DM Sans"/>
              </a:rPr>
              <a:t>CE QUI NE SE COPIE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43000"/>
            <a:ext cx="7302500" cy="330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F4EEE4"/>
                </a:solidFill>
                <a:latin typeface="DM Serif Display"/>
              </a:rPr>
              <a:t>« Face à une pièce, la plupart des gens voient du désordre. Moi, je vois un plan. 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699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4EEE4"/>
                </a:solidFill>
                <a:latin typeface="DM Sans"/>
              </a:rPr>
              <a:t>— Nine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36000" y="889000"/>
            <a:ext cx="2946400" cy="3810000"/>
          </a:xfrm>
          <a:prstGeom prst="rect">
            <a:avLst/>
          </a:prstGeom>
          <a:solidFill>
            <a:srgbClr val="6B64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636000" y="889000"/>
            <a:ext cx="2946400" cy="3810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8636000" y="889000"/>
            <a:ext cx="2946400" cy="3810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8763000" y="2476500"/>
            <a:ext cx="2692400" cy="635000"/>
          </a:xfrm>
          <a:prstGeom prst="rect">
            <a:avLst/>
          </a:prstGeom>
          <a:solidFill>
            <a:srgbClr val="6B64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0" y="2476500"/>
            <a:ext cx="26924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Nine, de face, chez 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270500"/>
            <a:ext cx="66675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4EEE4"/>
                </a:solidFill>
                <a:latin typeface="DM Sans"/>
              </a:rPr>
              <a:t>Nine a 22 ans, un master de lettres modernes et deux classes de collège derrière elle. Elle a grandi en rangeant les placards des autres sans qu'on le lui demande. Julien, son père, s'occupe du reste. Leurs LEGO étaient carrés et symétriques ; ça n'a pas changé.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4953000"/>
            <a:ext cx="2946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F9465"/>
                </a:solidFill>
                <a:latin typeface="DM Sans"/>
              </a:rPr>
              <a:t>La méthode et la rigueur s'apprennent. Ce regard-là, non : c'est lui que la marque doit montrer.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795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Pour tous ceux qui n'aiment
pas ranger. Et qui l'assument.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59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On ne cible pas des catégories de gens, mais des situations. Trois d'entre elles font vivre l'activité.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048000"/>
            <a:ext cx="3454400" cy="2921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3251200"/>
            <a:ext cx="3048000" cy="82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4EEE4"/>
                </a:solidFill>
                <a:latin typeface="DM Serif Display"/>
              </a:rPr>
              <a:t>Les parents débordés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254500"/>
            <a:ext cx="3048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EE4"/>
                </a:solidFill>
                <a:latin typeface="DM Sans"/>
              </a:rPr>
              <a:t>Le cœur de L'habitude : un créneau chaque mois, et on n'y pense plus.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5524500"/>
            <a:ext cx="1995661" cy="2413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5524500"/>
            <a:ext cx="1995661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 spc="140">
                <a:solidFill>
                  <a:srgbClr val="1F1C18"/>
                </a:solidFill>
                <a:latin typeface="DM Sans"/>
              </a:rPr>
              <a:t>LES CLIENTS RÉGULIERS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800" y="3048000"/>
            <a:ext cx="3454400" cy="2921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51200"/>
            <a:ext cx="3048000" cy="82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1C18"/>
                </a:solidFill>
                <a:latin typeface="DM Serif Display"/>
              </a:rPr>
              <a:t>Les changements de 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54500"/>
            <a:ext cx="3048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Déménagement, séparation, naissance. Ponctuel, souvent urgent.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524500"/>
            <a:ext cx="1585044" cy="2413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5524500"/>
            <a:ext cx="1585044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 spc="140">
                <a:solidFill>
                  <a:srgbClr val="F4EEE4"/>
                </a:solidFill>
                <a:latin typeface="DM Sans"/>
              </a:rPr>
              <a:t>LES GROS PANIERS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3048000"/>
            <a:ext cx="3454400" cy="2921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1200" y="3251200"/>
            <a:ext cx="3048000" cy="82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1C18"/>
                </a:solidFill>
                <a:latin typeface="DM Serif Display"/>
              </a:rPr>
              <a:t>Les seniors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200" y="4254500"/>
            <a:ext cx="3048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Un logement plus simple à vivre. Souvent réservé par leurs enfants.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1200" y="5524500"/>
            <a:ext cx="1835363" cy="2413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1200" y="5524500"/>
            <a:ext cx="1835363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 spc="140">
                <a:solidFill>
                  <a:srgbClr val="F4EEE4"/>
                </a:solidFill>
                <a:latin typeface="DM Sans"/>
              </a:rPr>
              <a:t>CEUX QU'ON RASSURE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223000"/>
            <a:ext cx="1079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Le lendemain de soirée, c'est très drôle sur les réseaux. Mais c'est du ménage : pas une cible.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01 · La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Deux offres, pas plus.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Plus le choix est grand, moins la décision se prend. Les offres se nomment par leur taille, jamais par une métaphore : on commande « Un coin » sans aucune gêne.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540000"/>
            <a:ext cx="3606800" cy="3302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8400" y="2540000"/>
            <a:ext cx="508000" cy="50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2794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0" i="0">
                <a:solidFill>
                  <a:srgbClr val="F4EEE4"/>
                </a:solidFill>
                <a:latin typeface="DM Serif Display"/>
              </a:rPr>
              <a:t>Un coin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3556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F4EEE4"/>
                </a:solidFill>
                <a:latin typeface="DM Sans"/>
              </a:rPr>
              <a:t>2 heures</a:t>
            </a:r>
            <a:r>
              <a:rPr sz="1700" b="0" i="0">
                <a:solidFill>
                  <a:srgbClr val="F4EEE4"/>
                </a:solidFill>
                <a:latin typeface="DM Sans"/>
              </a:rPr>
              <a:t>  ·  100 €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4064000"/>
            <a:ext cx="3048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EE4"/>
                </a:solidFill>
                <a:latin typeface="DM Sans"/>
              </a:rPr>
              <a:t>Un placard, une salle de bain, une entrée, un bureau, une penderie.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53340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E5452A"/>
                </a:solidFill>
                <a:latin typeface="DM Sans"/>
              </a:rPr>
              <a:t>RÉSERVER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9600" y="2540000"/>
            <a:ext cx="3606800" cy="33020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600" y="2794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0" i="0">
                <a:solidFill>
                  <a:srgbClr val="1F1C18"/>
                </a:solidFill>
                <a:latin typeface="DM Serif Display"/>
              </a:rPr>
              <a:t>Une pièce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00" y="3556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1F1C18"/>
                </a:solidFill>
                <a:latin typeface="DM Sans"/>
              </a:rPr>
              <a:t>Une demi-journée</a:t>
            </a:r>
            <a:r>
              <a:rPr sz="1700" b="0" i="0">
                <a:solidFill>
                  <a:srgbClr val="1F1C18"/>
                </a:solidFill>
                <a:latin typeface="DM Sans"/>
              </a:rPr>
              <a:t>  ·  200 €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00" y="4064000"/>
            <a:ext cx="3048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Une cuisine, une chambre, une chambre d'enfant, un dressing, un cellier.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600" y="53340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1F1C18"/>
                </a:solidFill>
                <a:latin typeface="DM Sans"/>
              </a:rPr>
              <a:t>RÉSERVER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00" y="2540000"/>
            <a:ext cx="30734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6B645B"/>
                </a:solidFill>
                <a:latin typeface="DM Sans"/>
              </a:rPr>
              <a:t>AU SECOND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9000" y="2921000"/>
            <a:ext cx="30734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509000" y="3048000"/>
            <a:ext cx="3073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300" b="0" i="0">
                <a:solidFill>
                  <a:srgbClr val="1F1C18"/>
                </a:solidFill>
                <a:latin typeface="DM Serif Display"/>
              </a:rPr>
              <a:t>Toute la maison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9000" y="3492500"/>
            <a:ext cx="3073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Sur devis, à partir de 600 €. Plusieurs pièces, un déménagement.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09000" y="4381500"/>
            <a:ext cx="30734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509000" y="4508500"/>
            <a:ext cx="3073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300" b="0" i="0">
                <a:solidFill>
                  <a:srgbClr val="1F1C18"/>
                </a:solidFill>
                <a:latin typeface="DM Serif Display"/>
              </a:rPr>
              <a:t>L'habitude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9000" y="4953000"/>
            <a:ext cx="3073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2 heures par mois, le même jour. 100 € par mois, sans engagement.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969000"/>
            <a:ext cx="10160000" cy="4445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5969000"/>
            <a:ext cx="9906000" cy="444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Le prix après crédit d'impôt (50 € pour Un coin) </a:t>
            </a:r>
            <a:r>
              <a:rPr sz="1100" b="0" i="0">
                <a:solidFill>
                  <a:srgbClr val="1F1C18"/>
                </a:solidFill>
                <a:latin typeface="DM Sans"/>
              </a:rPr>
              <a:t>ne s'affiche qu'une fois le récépissé de déclaration services à la personne reçu.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La voix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La meilleure chose du site actuel, c'est la façon dont Nine parle. On la garde, et on la descend d'un étage : moins de Flaubert, plus de cuisine.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02.1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Comment parle Nine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02.2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On dit, on évite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02.3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phrases qu'on garde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60706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02.4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Dans la vraie vie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02 · La voix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Comment parle Nine.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5207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À la première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130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C'est Nine qui parle, pas « l'équipe ». Un « je », un prénom, une vraie personne.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750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1">
                <a:solidFill>
                  <a:srgbClr val="6B645B"/>
                </a:solidFill>
                <a:latin typeface="DM Sans"/>
              </a:rPr>
              <a:t>« Je range, vous vous asseyez. 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1841500"/>
            <a:ext cx="5207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E5452A"/>
                </a:solidFill>
                <a:latin typeface="DM Serif Display"/>
              </a:rPr>
              <a:t>La flemme, assumée.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24130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Personne ne parle comme ça du rangement. On ne culpabilise pas le client : on le comprend.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7600" y="31750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1">
                <a:solidFill>
                  <a:srgbClr val="6B645B"/>
                </a:solidFill>
                <a:latin typeface="DM Sans"/>
              </a:rPr>
              <a:t>« Vous n'aimez pas ranger. Nine, si. 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27500"/>
            <a:ext cx="5207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Pince-sans-rire.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90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De l'humour à froid, à la Jonas Jonasson. Jamais de point d'exclamation pour faire rire.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4610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1">
                <a:solidFill>
                  <a:srgbClr val="6B645B"/>
                </a:solidFill>
                <a:latin typeface="DM Sans"/>
              </a:rPr>
              <a:t>« Le placard ne va pas se ranger tout seul. On a vérifié. 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4127500"/>
            <a:ext cx="5207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Des mots de tous les jours.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7600" y="46990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On réserve comme on appelle une femme de ménage, pas comme on commande un audit.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600" y="54610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1">
                <a:solidFill>
                  <a:srgbClr val="6B645B"/>
                </a:solidFill>
                <a:latin typeface="DM Sans"/>
              </a:rPr>
              <a:t>« Un créneau, un coin, c'est réglé. 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02 · La voix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On dit, on évite.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78000"/>
            <a:ext cx="5308600" cy="3556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9685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BF9465"/>
                </a:solidFill>
                <a:latin typeface="DM Sans"/>
              </a:rPr>
              <a:t>ON 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23495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F4EEE4"/>
                </a:solidFill>
                <a:latin typeface="DM Serif Display"/>
              </a:rPr>
              <a:t>ranger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28829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F4EEE4"/>
                </a:solidFill>
                <a:latin typeface="DM Serif Display"/>
              </a:rPr>
              <a:t>réserver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34163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F4EEE4"/>
                </a:solidFill>
                <a:latin typeface="DM Serif Display"/>
              </a:rPr>
              <a:t>un créneau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39497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F4EEE4"/>
                </a:solidFill>
                <a:latin typeface="DM Serif Display"/>
              </a:rPr>
              <a:t>un coin, une pièce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44831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F4EEE4"/>
                </a:solidFill>
                <a:latin typeface="DM Serif Display"/>
              </a:rPr>
              <a:t>Nine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3800" y="1778000"/>
            <a:ext cx="5308600" cy="35560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7800" y="19685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6B645B"/>
                </a:solidFill>
                <a:latin typeface="DM Sans"/>
              </a:rPr>
              <a:t>ON ÉVITE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00" y="23495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6B645B"/>
                </a:solidFill>
                <a:latin typeface="DM Serif Display"/>
              </a:rPr>
              <a:t>coach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27800" y="2641600"/>
            <a:ext cx="989831" cy="0"/>
          </a:xfrm>
          <a:prstGeom prst="line">
            <a:avLst/>
          </a:prstGeom>
          <a:ln w="25400">
            <a:solidFill>
              <a:srgbClr val="E5452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527800" y="28829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6B645B"/>
                </a:solidFill>
                <a:latin typeface="DM Serif Display"/>
              </a:rPr>
              <a:t>home organiser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27800" y="3175000"/>
            <a:ext cx="2652911" cy="0"/>
          </a:xfrm>
          <a:prstGeom prst="line">
            <a:avLst/>
          </a:prstGeom>
          <a:ln w="25400">
            <a:solidFill>
              <a:srgbClr val="E5452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527800" y="34163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6B645B"/>
                </a:solidFill>
                <a:latin typeface="DM Serif Display"/>
              </a:rPr>
              <a:t>désencombrement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27800" y="3708400"/>
            <a:ext cx="3174181" cy="0"/>
          </a:xfrm>
          <a:prstGeom prst="line">
            <a:avLst/>
          </a:prstGeom>
          <a:ln w="25400">
            <a:solidFill>
              <a:srgbClr val="E5452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527800" y="39497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6B645B"/>
                </a:solidFill>
                <a:latin typeface="DM Serif Display"/>
              </a:rPr>
              <a:t>transformation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27800" y="4241800"/>
            <a:ext cx="2580481" cy="0"/>
          </a:xfrm>
          <a:prstGeom prst="line">
            <a:avLst/>
          </a:prstGeom>
          <a:ln w="25400">
            <a:solidFill>
              <a:srgbClr val="E5452A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27800" y="44831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6B645B"/>
                </a:solidFill>
                <a:latin typeface="DM Serif Display"/>
              </a:rPr>
              <a:t>accompagnement, bien-être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27800" y="4775200"/>
            <a:ext cx="4764832" cy="0"/>
          </a:xfrm>
          <a:prstGeom prst="line">
            <a:avLst/>
          </a:prstGeom>
          <a:ln w="25400">
            <a:solidFill>
              <a:srgbClr val="E5452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09600" y="558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F1C18"/>
                </a:solidFill>
                <a:latin typeface="DM Sans"/>
              </a:rPr>
              <a:t>La règle d'or : </a:t>
            </a:r>
            <a:r>
              <a:rPr sz="1400" b="0" i="0">
                <a:solidFill>
                  <a:srgbClr val="1F1C18"/>
                </a:solidFill>
                <a:latin typeface="DM Sans"/>
              </a:rPr>
              <a:t>« On range, on ne nettoie pas. » À écrire partout où le client pourrait confondre avec le ménage. Le coup de chiffon sur ce qu'on vient de vider, lui, est compris.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F4EEE4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F4EEE4"/>
                </a:solidFill>
                <a:latin typeface="DM Sans"/>
              </a:rPr>
              <a:t>02 · La voix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F4EEE4"/>
                </a:solidFill>
                <a:latin typeface="DM San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85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BF9465"/>
                </a:solidFill>
                <a:latin typeface="DM Sans"/>
              </a:rPr>
              <a:t>LES PHRASES QU'ON GARDE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E5452A"/>
                </a:solidFill>
                <a:latin typeface="DM Serif Display"/>
              </a:rPr>
              <a:t>Vous n'aimez pas ranger. Nine, 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130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600" b="0" i="0">
                <a:solidFill>
                  <a:srgbClr val="F4EEE4"/>
                </a:solidFill>
                <a:latin typeface="DM Serif Display"/>
              </a:rPr>
              <a:t>On range. Vous respirez.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560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600" b="0" i="0">
                <a:solidFill>
                  <a:srgbClr val="F4EEE4"/>
                </a:solidFill>
                <a:latin typeface="DM Serif Display"/>
              </a:rPr>
              <a:t>Rangez moins. Vivez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990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600" b="0" i="0">
                <a:solidFill>
                  <a:srgbClr val="F4EEE4"/>
                </a:solidFill>
                <a:latin typeface="DM Serif Display"/>
              </a:rPr>
              <a:t>Ranger, ça se délègue.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960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BF9465"/>
                </a:solidFill>
                <a:latin typeface="DM Sans"/>
              </a:rPr>
              <a:t>À saupoudrer sur le site, les réseaux, les flyers. Une phrase par support, jamais deux côte à côte.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02 · La voix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Dans la vraie vie.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698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Même voix partout, du site au SMS. Exemples de ton : à adapter, pas à copier.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22500"/>
            <a:ext cx="2667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Confirmation de réservation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92322" y="2284222"/>
            <a:ext cx="92456" cy="92456"/>
          </a:xfrm>
          <a:prstGeom prst="line">
            <a:avLst/>
          </a:prstGeom>
          <a:ln w="18161">
            <a:solidFill>
              <a:srgbClr val="6B645B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3592322" y="2284222"/>
            <a:ext cx="92456" cy="92456"/>
          </a:xfrm>
          <a:prstGeom prst="line">
            <a:avLst/>
          </a:prstGeom>
          <a:ln w="18161">
            <a:solidFill>
              <a:srgbClr val="6B645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810000" y="2222500"/>
            <a:ext cx="3302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45B"/>
                </a:solidFill>
                <a:latin typeface="DM Sans"/>
              </a:rPr>
              <a:t>Votre réservation a bien été enregistrée. Un diagnostic préalable sera effectué.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90765" y="2333752"/>
            <a:ext cx="41275" cy="39624"/>
          </a:xfrm>
          <a:prstGeom prst="line">
            <a:avLst/>
          </a:prstGeom>
          <a:ln w="18161">
            <a:solidFill>
              <a:srgbClr val="E5452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7432040" y="2284222"/>
            <a:ext cx="79248" cy="89154"/>
          </a:xfrm>
          <a:prstGeom prst="line">
            <a:avLst/>
          </a:prstGeom>
          <a:ln w="18161">
            <a:solidFill>
              <a:srgbClr val="E5452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620000" y="22225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F1C18"/>
                </a:solidFill>
                <a:latin typeface="DM Sans"/>
              </a:rPr>
              <a:t>C'est noté : mardi 14 h, votre entrée. Envoyez-moi trois photos ici, je m'occupe du reste. — Nine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349250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09600" y="3619500"/>
            <a:ext cx="2667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La limite du ménage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2322" y="3681222"/>
            <a:ext cx="92456" cy="92456"/>
          </a:xfrm>
          <a:prstGeom prst="line">
            <a:avLst/>
          </a:prstGeom>
          <a:ln w="18161">
            <a:solidFill>
              <a:srgbClr val="6B645B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3592322" y="3681222"/>
            <a:ext cx="92456" cy="92456"/>
          </a:xfrm>
          <a:prstGeom prst="line">
            <a:avLst/>
          </a:prstGeom>
          <a:ln w="18161">
            <a:solidFill>
              <a:srgbClr val="6B645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810000" y="3619500"/>
            <a:ext cx="3302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45B"/>
                </a:solidFill>
                <a:latin typeface="DM Sans"/>
              </a:rPr>
              <a:t>Les prestations de nettoyage ne sont pas incluses dans nos offres.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90765" y="3730752"/>
            <a:ext cx="41275" cy="39624"/>
          </a:xfrm>
          <a:prstGeom prst="line">
            <a:avLst/>
          </a:prstGeom>
          <a:ln w="18161">
            <a:solidFill>
              <a:srgbClr val="E5452A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7432040" y="3681222"/>
            <a:ext cx="79248" cy="89154"/>
          </a:xfrm>
          <a:prstGeom prst="line">
            <a:avLst/>
          </a:prstGeom>
          <a:ln w="18161">
            <a:solidFill>
              <a:srgbClr val="E5452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620000" y="36195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F1C18"/>
                </a:solidFill>
                <a:latin typeface="DM Sans"/>
              </a:rPr>
              <a:t>Je range, je ne nettoie pas. Le coup de chiffon sur l'étagère que je viens de vider, en revanche, c'est cadeau.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" y="488950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09600" y="5016500"/>
            <a:ext cx="2667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Un refus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92322" y="5078222"/>
            <a:ext cx="92456" cy="92456"/>
          </a:xfrm>
          <a:prstGeom prst="line">
            <a:avLst/>
          </a:prstGeom>
          <a:ln w="18161">
            <a:solidFill>
              <a:srgbClr val="6B645B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>
            <a:off x="3592322" y="5078222"/>
            <a:ext cx="92456" cy="92456"/>
          </a:xfrm>
          <a:prstGeom prst="line">
            <a:avLst/>
          </a:prstGeom>
          <a:ln w="18161">
            <a:solidFill>
              <a:srgbClr val="6B645B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810000" y="5016500"/>
            <a:ext cx="3302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45B"/>
                </a:solidFill>
                <a:latin typeface="DM Sans"/>
              </a:rPr>
              <a:t>Votre demande ne correspond pas à nos critères d'intervention.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90765" y="5127752"/>
            <a:ext cx="41275" cy="39624"/>
          </a:xfrm>
          <a:prstGeom prst="line">
            <a:avLst/>
          </a:prstGeom>
          <a:ln w="18161">
            <a:solidFill>
              <a:srgbClr val="E5452A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432040" y="5078222"/>
            <a:ext cx="79248" cy="89154"/>
          </a:xfrm>
          <a:prstGeom prst="line">
            <a:avLst/>
          </a:prstGeom>
          <a:ln w="18161">
            <a:solidFill>
              <a:srgbClr val="E5452A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620000" y="50165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F1C18"/>
                </a:solidFill>
                <a:latin typeface="DM Sans"/>
              </a:rPr>
              <a:t>Là, il faudrait plus qu'une Nine. Je préfère vous le dire maintenant que vous facturer un après-midi pour un résultat à moitié.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Le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Un mot en minuscules et un point devenu carré. Le coin de neuf, c'est lui.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03.1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03.2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 symbole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03.3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60706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03.4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L'espace et la taille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03.5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Ce qu'on ne fait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03 · Le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19</a:t>
            </a:r>
          </a:p>
        </p:txBody>
      </p:sp>
      <p:pic>
        <p:nvPicPr>
          <p:cNvPr id="5" name="Picture 4" descr="nine-signature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952500"/>
            <a:ext cx="6731000" cy="3444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270500"/>
            <a:ext cx="5080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Le mot. </a:t>
            </a:r>
            <a:r>
              <a:rPr sz="1300" b="0" i="0">
                <a:solidFill>
                  <a:srgbClr val="1F1C18"/>
                </a:solidFill>
                <a:latin typeface="DM Sans"/>
              </a:rPr>
              <a:t>« nine » en minuscules, dans la police des titres, légèrement resserré. Accessible, pas guindé.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270500"/>
            <a:ext cx="5232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E5452A"/>
                </a:solidFill>
                <a:latin typeface="DM Sans"/>
              </a:rPr>
              <a:t>Le point. </a:t>
            </a:r>
            <a:r>
              <a:rPr sz="1300" b="0" i="0">
                <a:solidFill>
                  <a:srgbClr val="1F1C18"/>
                </a:solidFill>
                <a:latin typeface="DM Sans"/>
              </a:rPr>
              <a:t>Le point du i devient un carré tomate : un coin rangé, la seule touche de couleur. C'est lui qu'on doit retenir.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03 · Le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 symbole.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5207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Un carré de neuf cases dont une change de couleur : Nine, le chiffre neuf, et un coin remis à neuf. Il sert là où le mot ne tient pas : photo de profil, icône, tampon, étiquette.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0" y="1016000"/>
            <a:ext cx="4572000" cy="4572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33000" y="1016000"/>
            <a:ext cx="1524000" cy="1524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09000" y="1016000"/>
            <a:ext cx="0" cy="4572000"/>
          </a:xfrm>
          <a:prstGeom prst="line">
            <a:avLst/>
          </a:prstGeom>
          <a:ln w="9525">
            <a:solidFill>
              <a:srgbClr val="6B645B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985000" y="2540000"/>
            <a:ext cx="4572000" cy="0"/>
          </a:xfrm>
          <a:prstGeom prst="line">
            <a:avLst/>
          </a:prstGeom>
          <a:ln w="9525">
            <a:solidFill>
              <a:srgbClr val="6B645B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0033000" y="1016000"/>
            <a:ext cx="0" cy="4572000"/>
          </a:xfrm>
          <a:prstGeom prst="line">
            <a:avLst/>
          </a:prstGeom>
          <a:ln w="9525">
            <a:solidFill>
              <a:srgbClr val="6B645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985000" y="4064000"/>
            <a:ext cx="4572000" cy="0"/>
          </a:xfrm>
          <a:prstGeom prst="line">
            <a:avLst/>
          </a:prstGeom>
          <a:ln w="9525">
            <a:solidFill>
              <a:srgbClr val="6B645B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985000" y="57150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45B"/>
                </a:solidFill>
                <a:latin typeface="DM Sans"/>
              </a:rPr>
              <a:t>1 case = 1/3 du côté. Angles droits, jamais arrondis.</a:t>
            </a:r>
          </a:p>
        </p:txBody>
      </p:sp>
      <p:pic>
        <p:nvPicPr>
          <p:cNvPr id="14" name="Picture 13" descr="nine-symb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3746500"/>
            <a:ext cx="114300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260600" y="3556000"/>
            <a:ext cx="1524000" cy="1524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nine-symbole-cr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3746500"/>
            <a:ext cx="1143000" cy="1143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038600" y="3556000"/>
            <a:ext cx="1524000" cy="1524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nine-symbole-sur-to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3746500"/>
            <a:ext cx="1143000" cy="1143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270500"/>
            <a:ext cx="520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Sur crème, sur encre, sur tomate : la case du coin passe toujours à la couleur qui manque.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03 · Le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Les versions.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78000"/>
            <a:ext cx="2590800" cy="2794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2540000"/>
            <a:ext cx="2082800" cy="7767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762500"/>
            <a:ext cx="25908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Principale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175250"/>
            <a:ext cx="25908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Sur crème ou blanc. Dans 9 cas sur 10.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3600" y="1778000"/>
            <a:ext cx="2590800" cy="2794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nine-logo-cr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540000"/>
            <a:ext cx="2082800" cy="7767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3600" y="4762500"/>
            <a:ext cx="25908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Inversée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3600" y="5175250"/>
            <a:ext cx="25908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Sur encre ou sur photo sombre.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7600" y="1778000"/>
            <a:ext cx="2590800" cy="2794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nine-logo-sur-to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2540000"/>
            <a:ext cx="2082800" cy="7767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97600" y="4762500"/>
            <a:ext cx="25908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Sur tomate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600" y="5175250"/>
            <a:ext cx="25908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Le point passe en crème.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1600" y="1778000"/>
            <a:ext cx="2590800" cy="2794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nine-logo-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600" y="2540000"/>
            <a:ext cx="2082800" cy="7767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91600" y="4762500"/>
            <a:ext cx="25908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Monochrome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5175250"/>
            <a:ext cx="25908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Tampon, gravure, une seule encre.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159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Les fichiers SVG et PNG de chaque version sont dans le dossier logos/, à importer dans Canva (Importer &gt; fichiers).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03 · Le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5715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De l'air autour,
et jamais trop petit.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24342" y="690342"/>
            <a:ext cx="5223316" cy="2678236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24342" y="690342"/>
            <a:ext cx="5223316" cy="2678236"/>
          </a:xfrm>
          <a:prstGeom prst="rect">
            <a:avLst/>
          </a:prstGeom>
          <a:noFill/>
          <a:ln w="12700">
            <a:solidFill>
              <a:srgbClr val="BF946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270000"/>
            <a:ext cx="4064000" cy="15155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69256" y="835256"/>
            <a:ext cx="289829" cy="289829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12915" y="835256"/>
            <a:ext cx="289829" cy="289829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9256" y="2933835"/>
            <a:ext cx="289829" cy="289829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12915" y="2933835"/>
            <a:ext cx="289829" cy="289829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24342" y="3495578"/>
            <a:ext cx="522331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1F1C18"/>
                </a:solidFill>
                <a:latin typeface="DM Sans"/>
              </a:rPr>
              <a:t>Marge minimale : deux fois le carré du point, de chaque côté.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667000"/>
            <a:ext cx="5207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Le logo respire. Rien ne s'approche à moins de deux carrés de point : ni texte, ni bord de page, ni autre logo.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4445000"/>
            <a:ext cx="109728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pic>
        <p:nvPicPr>
          <p:cNvPr id="16" name="Picture 15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699000"/>
            <a:ext cx="952500" cy="355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588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Logo · impression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842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25 mm de large minimum</a:t>
            </a:r>
          </a:p>
        </p:txBody>
      </p:sp>
      <p:pic>
        <p:nvPicPr>
          <p:cNvPr id="19" name="Picture 18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4699000"/>
            <a:ext cx="723900" cy="2699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03600" y="5588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Logo · écran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3600" y="5842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120 px de large minimum</a:t>
            </a:r>
          </a:p>
        </p:txBody>
      </p:sp>
      <p:pic>
        <p:nvPicPr>
          <p:cNvPr id="22" name="Picture 21" descr="nine-symb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4699000"/>
            <a:ext cx="406400" cy="406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97600" y="5588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Symbole · impression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7600" y="5842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8 mm de côté minimum</a:t>
            </a:r>
          </a:p>
        </p:txBody>
      </p:sp>
      <p:pic>
        <p:nvPicPr>
          <p:cNvPr id="25" name="Picture 24" descr="nine-symb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4699000"/>
            <a:ext cx="325120" cy="325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91600" y="5588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Symbole · écran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600" y="5842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32 px de côté minimum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03 · Le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Ce qu'on ne fait pas.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14500"/>
            <a:ext cx="34544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86000"/>
            <a:ext cx="2692400" cy="762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51510" y="36614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651510" y="36614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901700" y="3619500"/>
            <a:ext cx="31623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Étirer ou écraser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714500"/>
            <a:ext cx="34544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2159000"/>
            <a:ext cx="2184400" cy="8145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33754" y="2161275"/>
            <a:ext cx="155638" cy="15563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410710" y="36614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4410710" y="36614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660900" y="3619500"/>
            <a:ext cx="31623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Changer la couleur du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1714500"/>
            <a:ext cx="34544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61500" y="2032000"/>
            <a:ext cx="1079500" cy="1079500"/>
          </a:xfrm>
          <a:prstGeom prst="roundRect">
            <a:avLst>
              <a:gd name="adj" fmla="val 30000"/>
            </a:avLst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79050" y="2032000"/>
            <a:ext cx="361950" cy="361950"/>
          </a:xfrm>
          <a:prstGeom prst="ellipse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169910" y="36614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cxnSp>
        <p:nvCxnSpPr>
          <p:cNvPr id="21" name="Connector 20"/>
          <p:cNvCxnSpPr/>
          <p:nvPr/>
        </p:nvCxnSpPr>
        <p:spPr>
          <a:xfrm flipH="1">
            <a:off x="8169910" y="36614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420100" y="3619500"/>
            <a:ext cx="31623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Arrondir le carré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064000"/>
            <a:ext cx="34544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80000">
            <a:off x="1244600" y="4508500"/>
            <a:ext cx="2184400" cy="814599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651510" y="60109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cxnSp>
        <p:nvCxnSpPr>
          <p:cNvPr id="26" name="Connector 25"/>
          <p:cNvCxnSpPr/>
          <p:nvPr/>
        </p:nvCxnSpPr>
        <p:spPr>
          <a:xfrm flipH="1">
            <a:off x="651510" y="60109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901700" y="5969000"/>
            <a:ext cx="31623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Faire pivoter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800" y="4064000"/>
            <a:ext cx="34544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800" y="4064000"/>
            <a:ext cx="3454400" cy="1778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nine-logo-no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4584700"/>
            <a:ext cx="2184400" cy="814599"/>
          </a:xfrm>
          <a:prstGeom prst="rect">
            <a:avLst/>
          </a:prstGeom>
        </p:spPr>
      </p:pic>
      <p:pic>
        <p:nvPicPr>
          <p:cNvPr id="31" name="Picture 30" descr="nine-logo-cr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4508500"/>
            <a:ext cx="2184400" cy="814599"/>
          </a:xfrm>
          <a:prstGeom prst="rect">
            <a:avLst/>
          </a:prstGeom>
        </p:spPr>
      </p:pic>
      <p:cxnSp>
        <p:nvCxnSpPr>
          <p:cNvPr id="32" name="Connector 31"/>
          <p:cNvCxnSpPr/>
          <p:nvPr/>
        </p:nvCxnSpPr>
        <p:spPr>
          <a:xfrm>
            <a:off x="4410710" y="60109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H="1">
            <a:off x="4410710" y="60109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4660900" y="5969000"/>
            <a:ext cx="31623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Ajouter une ombre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0" y="4064000"/>
            <a:ext cx="34544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8000" y="4064000"/>
            <a:ext cx="575733" cy="1778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03733" y="4064000"/>
            <a:ext cx="575733" cy="1778000"/>
          </a:xfrm>
          <a:prstGeom prst="rect">
            <a:avLst/>
          </a:prstGeom>
          <a:solidFill>
            <a:srgbClr val="6B64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9467" y="4064000"/>
            <a:ext cx="575733" cy="1778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5200" y="4064000"/>
            <a:ext cx="575733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30933" y="4064000"/>
            <a:ext cx="575733" cy="1778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006667" y="4064000"/>
            <a:ext cx="575733" cy="1778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nine-logo-cr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4635500"/>
            <a:ext cx="2184400" cy="814599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8169910" y="60109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cxnSp>
        <p:nvCxnSpPr>
          <p:cNvPr id="44" name="Connector 43"/>
          <p:cNvCxnSpPr/>
          <p:nvPr/>
        </p:nvCxnSpPr>
        <p:spPr>
          <a:xfrm flipH="1">
            <a:off x="8169910" y="6010910"/>
            <a:ext cx="106680" cy="106680"/>
          </a:xfrm>
          <a:prstGeom prst="line">
            <a:avLst/>
          </a:prstGeom>
          <a:ln w="20955">
            <a:solidFill>
              <a:srgbClr val="E5452A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8420100" y="5969000"/>
            <a:ext cx="31623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Poser sur une photo chargée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La couleur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Le kraft des boîtes, le crème des murs, l'encre de l'étiqueteuse. Et une touche de tomate, une seule.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04.1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La palette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04.2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proportions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04.3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bons mélanges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04 · La couleur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La palette.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14500"/>
            <a:ext cx="1744133" cy="2540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00" y="1841500"/>
            <a:ext cx="1490133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3810000"/>
            <a:ext cx="1490133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#E5452A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45000"/>
            <a:ext cx="1744133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RVB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229 · 69 · 42</a:t>
            </a:r>
          </a:p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CMJN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0 · 85 · 90 ·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016500"/>
            <a:ext cx="1680633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La touche. Le point du logo, un mot, un bouton. Jamais plus d'un élément par visuel.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5333" y="1714500"/>
            <a:ext cx="1744133" cy="2540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2333" y="1841500"/>
            <a:ext cx="1490133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F4EEE4"/>
                </a:solidFill>
                <a:latin typeface="DM Serif Display"/>
              </a:rPr>
              <a:t>Encre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2333" y="3810000"/>
            <a:ext cx="1490133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F4EEE4"/>
                </a:solidFill>
                <a:latin typeface="DM Sans"/>
              </a:rPr>
              <a:t>#1F1C18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5333" y="4445000"/>
            <a:ext cx="1744133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RVB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31 · 28 · 24</a:t>
            </a:r>
          </a:p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CMJN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0 · 10 · 20 · 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333" y="5016500"/>
            <a:ext cx="1680633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Le texte, les traits, les fonds forts. Un noir chaud, jamais du noir pur.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1067" y="1714500"/>
            <a:ext cx="1744133" cy="2540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8067" y="1841500"/>
            <a:ext cx="1490133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Crème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8067" y="3810000"/>
            <a:ext cx="1490133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#F4EEE4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1067" y="4445000"/>
            <a:ext cx="1744133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RVB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244 · 238 · 228</a:t>
            </a:r>
          </a:p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CMJN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0 · 3 · 7 ·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1067" y="5016500"/>
            <a:ext cx="1680633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Le fond. Le mur blanc d'une maison habitée.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1714500"/>
            <a:ext cx="1744133" cy="2540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3800" y="1841500"/>
            <a:ext cx="1490133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Carton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3800" y="3810000"/>
            <a:ext cx="1490133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#E5D3B8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6800" y="4445000"/>
            <a:ext cx="1744133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RVB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229 · 211 · 184</a:t>
            </a:r>
          </a:p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CMJN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0 · 8 · 22 ·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6800" y="5016500"/>
            <a:ext cx="1680633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Les blocs secondaires, les encadrés.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533" y="1714500"/>
            <a:ext cx="1744133" cy="2540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533" y="1841500"/>
            <a:ext cx="1490133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Kraft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533" y="3810000"/>
            <a:ext cx="1490133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#BF9465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533" y="4445000"/>
            <a:ext cx="1744133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RVB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191 · 148 · 101</a:t>
            </a:r>
          </a:p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CMJN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0 · 25 · 50 ·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2533" y="5016500"/>
            <a:ext cx="1680633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La matière : boîtes, étiquettes, papier d'emballage.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38267" y="1714500"/>
            <a:ext cx="1744133" cy="2540000"/>
          </a:xfrm>
          <a:prstGeom prst="rect">
            <a:avLst/>
          </a:prstGeom>
          <a:solidFill>
            <a:srgbClr val="6B64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5267" y="1841500"/>
            <a:ext cx="1490133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F4EEE4"/>
                </a:solidFill>
                <a:latin typeface="DM Serif Display"/>
              </a:rPr>
              <a:t>Crayon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5267" y="3810000"/>
            <a:ext cx="1490133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F4EEE4"/>
                </a:solidFill>
                <a:latin typeface="DM Sans"/>
              </a:rPr>
              <a:t>#6B645B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267" y="4445000"/>
            <a:ext cx="1744133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RVB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107 · 100 · 91</a:t>
            </a:r>
          </a:p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F1C18"/>
                </a:solidFill>
                <a:latin typeface="DM Sans"/>
              </a:rPr>
              <a:t>CMJN  </a:t>
            </a:r>
            <a:r>
              <a:rPr sz="950" b="0" i="0">
                <a:solidFill>
                  <a:srgbClr val="1F1C18"/>
                </a:solidFill>
                <a:latin typeface="DM Sans"/>
              </a:rPr>
              <a:t>0 · 7 · 15 · 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8267" y="5016500"/>
            <a:ext cx="1680633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1C18"/>
                </a:solidFill>
                <a:latin typeface="DM Sans"/>
              </a:rPr>
              <a:t>Le texte secondaire : légendes, dates, mentions.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3500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45B"/>
                </a:solidFill>
                <a:latin typeface="DM Sans"/>
              </a:rPr>
              <a:t>Valeurs CMJN indicatives : demander une épreuve à l'imprimeur avant le premier tirage.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04 · La couleur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5715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Une touche,
pas une couche.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4826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Sur n'importe quel visuel, la tomate reste minoritaire. C'est ce qui la fait voir. Si tout est tomate, plus rien ne l'est.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064000"/>
            <a:ext cx="6035040" cy="1397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62600"/>
            <a:ext cx="603504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Crème · 55 %</a:t>
            </a:r>
          </a:p>
        </p:txBody>
      </p:sp>
      <p:sp>
        <p:nvSpPr>
          <p:cNvPr id="9" name="Rectangle 8"/>
          <p:cNvSpPr/>
          <p:nvPr/>
        </p:nvSpPr>
        <p:spPr>
          <a:xfrm>
            <a:off x="6644640" y="4064000"/>
            <a:ext cx="2743200" cy="1397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5562600"/>
            <a:ext cx="2743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Encre · 25 %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87840" y="4064000"/>
            <a:ext cx="877824" cy="1397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55626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Carton · 8 %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65664" y="4064000"/>
            <a:ext cx="768096" cy="1397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41864" y="55626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Kraft · 7 %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33760" y="4064000"/>
            <a:ext cx="548640" cy="1397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09960" y="55626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Tomate · 5 %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1270000"/>
            <a:ext cx="5232400" cy="2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F1C18"/>
                </a:solidFill>
                <a:latin typeface="DM Sans"/>
              </a:rPr>
              <a:t>La règle des neuf cases. </a:t>
            </a:r>
            <a:r>
              <a:rPr sz="1400" b="0" i="0">
                <a:solidFill>
                  <a:srgbClr val="1F1C18"/>
                </a:solidFill>
                <a:latin typeface="DM Sans"/>
              </a:rPr>
              <a:t>Découpez le visuel en 3 × 3. La tomate n'occupe jamais plus d'une case : de préférence celle du coin, en haut à droite.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0960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Le kraft vient d'abord des vraies matières photographiées (boîtes, papier), plus que des aplats.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04 · La couleur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Les bons mélanges.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Le contraste se mesure, il ne se devine pas. Ratios calculés selon la norme WCAG : 4,5 pour du texte courant, 3 pour un gros titre.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413000"/>
            <a:ext cx="2628900" cy="1397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540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F1C18"/>
                </a:solidFill>
                <a:latin typeface="DM Serif Display"/>
              </a:rPr>
              <a:t>Rangez moins.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65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1F1C18"/>
                </a:solidFill>
                <a:latin typeface="DM Sans"/>
              </a:rPr>
              <a:t>14,7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11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Encre sur crème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14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Tout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0900" y="2413000"/>
            <a:ext cx="2628900" cy="1397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3300" y="2540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4EEE4"/>
                </a:solidFill>
                <a:latin typeface="DM Serif Display"/>
              </a:rPr>
              <a:t>Rangez moins.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300" y="3365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4EEE4"/>
                </a:solidFill>
                <a:latin typeface="DM Sans"/>
              </a:rPr>
              <a:t>14,7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0900" y="3911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Crème sur encre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0900" y="4114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Tout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413000"/>
            <a:ext cx="2628900" cy="1397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600" y="2540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F1C18"/>
                </a:solidFill>
                <a:latin typeface="DM Serif Display"/>
              </a:rPr>
              <a:t>Rangez moins.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3365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1F1C18"/>
                </a:solidFill>
                <a:latin typeface="DM Sans"/>
              </a:rPr>
              <a:t>11,6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911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Encre sur carton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114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Tout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3500" y="2413000"/>
            <a:ext cx="2628900" cy="1397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900" y="2540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F1C18"/>
                </a:solidFill>
                <a:latin typeface="DM Serif Display"/>
              </a:rPr>
              <a:t>Rangez moins.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5900" y="3365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1F1C18"/>
                </a:solidFill>
                <a:latin typeface="DM Sans"/>
              </a:rPr>
              <a:t>6,2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0" y="3911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Encre sur kraft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0" y="4114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Tout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445000"/>
            <a:ext cx="2628900" cy="1397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572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F1C18"/>
                </a:solidFill>
                <a:latin typeface="DM Serif Display"/>
              </a:rPr>
              <a:t>Rangez moins.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97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1F1C18"/>
                </a:solidFill>
                <a:latin typeface="DM Sans"/>
              </a:rPr>
              <a:t>4,2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943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Encre sur tomate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146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Titres seulement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0900" y="4445000"/>
            <a:ext cx="2628900" cy="1397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3300" y="4572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E5452A"/>
                </a:solidFill>
                <a:latin typeface="DM Serif Display"/>
              </a:rPr>
              <a:t>Rangez moins.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3300" y="5397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E5452A"/>
                </a:solidFill>
                <a:latin typeface="DM Sans"/>
              </a:rPr>
              <a:t>3,5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0900" y="5943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Tomate sur crème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900" y="6146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Titres seulement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445000"/>
            <a:ext cx="2628900" cy="1397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4600" y="4572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6B645B"/>
                </a:solidFill>
                <a:latin typeface="DM Serif Display"/>
              </a:rPr>
              <a:t>Rangez moins.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600" y="5397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6B645B"/>
                </a:solidFill>
                <a:latin typeface="DM Sans"/>
              </a:rPr>
              <a:t>5,1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943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Crayon sur crème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6146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Légendes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3500" y="4445000"/>
            <a:ext cx="2628900" cy="1397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05900" y="45720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4EEE4"/>
                </a:solidFill>
                <a:latin typeface="DM Serif Display"/>
              </a:rPr>
              <a:t>Rangez moins.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05900" y="53975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4EEE4"/>
                </a:solidFill>
                <a:latin typeface="DM Sans"/>
              </a:rPr>
              <a:t>2,4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3500" y="59436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1C18"/>
                </a:solidFill>
                <a:latin typeface="DM Sans"/>
              </a:rPr>
              <a:t>Crème sur kraft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3500" y="6146800"/>
            <a:ext cx="22479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E5452A"/>
                </a:solidFill>
                <a:latin typeface="DM Sans"/>
              </a:rPr>
              <a:t>Jamais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La typographie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Une police à empattements pour parler fort, une police sans pour expliquer. Deux, pas trois.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05.1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deux polices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05.2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La hiérarchie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05.3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règles d'écriture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05 · La typographie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Les deux polices.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14500"/>
            <a:ext cx="5384800" cy="2794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651000"/>
            <a:ext cx="3810000" cy="215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0" b="0" i="0">
                <a:solidFill>
                  <a:srgbClr val="F4EEE4"/>
                </a:solidFill>
                <a:latin typeface="DM Serif Display"/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38100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F4EEE4"/>
                </a:solidFill>
                <a:latin typeface="DM Serif Display"/>
              </a:rPr>
              <a:t>DM Serif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99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Les titres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3500"/>
            <a:ext cx="5207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DM Serif Display. Des empattements francs, un peu ronds : sérieux sans être guindé. Toujours en un seul corps, jamais en gras ni en capitales.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7600" y="1714500"/>
            <a:ext cx="53848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1600" y="1651000"/>
            <a:ext cx="3810000" cy="215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0" b="1" i="0">
                <a:solidFill>
                  <a:srgbClr val="1F1C18"/>
                </a:solidFill>
                <a:latin typeface="DM Sans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600" y="38100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1F1C18"/>
                </a:solidFill>
                <a:latin typeface="DM Sans"/>
              </a:rPr>
              <a:t>DM Sans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7600" y="4699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Le 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5143500"/>
            <a:ext cx="5207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DM Sans. Lisible à toutes les tailles, sur écran comme sur papier. Normal pour le texte, gras pour les mots importants et les étiquettes.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86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Les deux sont gratuites (Google Fonts), disponibles dans Canva, et s'auto-hébergent sur le site : aucune dépendance.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05 · La typographie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La hiérarchie.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891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6B645B"/>
                </a:solidFill>
                <a:latin typeface="DM Sans"/>
              </a:rPr>
              <a:t>TITRE 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0" y="1651000"/>
            <a:ext cx="6350000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000" b="0" i="0">
                <a:solidFill>
                  <a:srgbClr val="1F1C18"/>
                </a:solidFill>
                <a:latin typeface="DM Serif Display"/>
              </a:rPr>
              <a:t>Rangez moins.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2400" y="16891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0" i="0">
                <a:solidFill>
                  <a:srgbClr val="6B645B"/>
                </a:solidFill>
                <a:latin typeface="DM Sans"/>
              </a:rPr>
              <a:t>Post 1080 : 120 px · A5 : 48 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" y="276860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09600" y="293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6B645B"/>
                </a:solidFill>
                <a:latin typeface="DM Sans"/>
              </a:rPr>
              <a:t>TITRE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0" y="28956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0" i="0">
                <a:solidFill>
                  <a:srgbClr val="1F1C18"/>
                </a:solidFill>
                <a:latin typeface="DM Serif Display"/>
              </a:rPr>
              <a:t>Un coin, en deux heures.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2400" y="29337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0" i="0">
                <a:solidFill>
                  <a:srgbClr val="6B645B"/>
                </a:solidFill>
                <a:latin typeface="DM Sans"/>
              </a:rPr>
              <a:t>Post : 72 px · A5 : 28 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" y="361696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09600" y="378206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6B645B"/>
                </a:solidFill>
                <a:latin typeface="DM Sans"/>
              </a:rPr>
              <a:t>CHAPÔ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000" y="3743960"/>
            <a:ext cx="6350000" cy="280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1F1C18"/>
                </a:solidFill>
                <a:latin typeface="DM Sans"/>
              </a:rPr>
              <a:t>Je viens, je range, vous n'avez rien à faire.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2400" y="378206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0" i="0">
                <a:solidFill>
                  <a:srgbClr val="6B645B"/>
                </a:solidFill>
                <a:latin typeface="DM Sans"/>
              </a:rPr>
              <a:t>Post : 34 px · A5 : 13 pt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415163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09600" y="431673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6B645B"/>
                </a:solidFill>
                <a:latin typeface="DM Sans"/>
              </a:rPr>
              <a:t>TEXTE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000" y="4278630"/>
            <a:ext cx="6350000" cy="2146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1C18"/>
                </a:solidFill>
                <a:latin typeface="DM Sans"/>
              </a:rPr>
              <a:t>Tri, rangement, étiquetage. Sacs « à donner » et « à jeter » préparés.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2400" y="431673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0" i="0">
                <a:solidFill>
                  <a:srgbClr val="6B645B"/>
                </a:solidFill>
                <a:latin typeface="DM Sans"/>
              </a:rPr>
              <a:t>Post : 26 px · A5 : 10 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" y="462026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09600" y="478536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50">
                <a:solidFill>
                  <a:srgbClr val="6B645B"/>
                </a:solidFill>
                <a:latin typeface="DM Sans"/>
              </a:rPr>
              <a:t>ÉTIQUETTE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0000" y="4747260"/>
            <a:ext cx="6350000" cy="1816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00">
                <a:solidFill>
                  <a:srgbClr val="1F1C18"/>
                </a:solidFill>
                <a:latin typeface="DM Sans"/>
              </a:rPr>
              <a:t>RÉSERVER UN CRÉNEAU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2400" y="478536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0" i="0">
                <a:solidFill>
                  <a:srgbClr val="6B645B"/>
                </a:solidFill>
                <a:latin typeface="DM Sans"/>
              </a:rPr>
              <a:t>Capitales, gras, espacées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" y="5055870"/>
            <a:ext cx="10972800" cy="0"/>
          </a:xfrm>
          <a:prstGeom prst="line">
            <a:avLst/>
          </a:prstGeom>
          <a:ln w="12700">
            <a:solidFill>
              <a:srgbClr val="E5D3B8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05 · La typographie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Les règles d'écriture.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78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E5452A"/>
                </a:solidFill>
                <a:latin typeface="DM Serif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860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Un titre est une phrase.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30500"/>
            <a:ext cx="32639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Avec un point final. « Vous réservez. Nine range. » se lit comme une décision, pas comme un slogan.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800" y="1778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BF9465"/>
                </a:solidFill>
                <a:latin typeface="DM Serif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800" y="22860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Court, toujours.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800" y="2730500"/>
            <a:ext cx="32639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Un titre tient en deux lignes. Si ça déborde, on coupe le texte, pas la taille.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1778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BF9465"/>
                </a:solidFill>
                <a:latin typeface="DM Serif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22860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Aligné à gauche.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0" y="2730500"/>
            <a:ext cx="32639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Le centré est réservé aux étiquettes et au logo. Le justifié, jamais.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64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BF9465"/>
                </a:solidFill>
                <a:latin typeface="DM Serif Display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La typographie française.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016500"/>
            <a:ext cx="32639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Espace avant : ; ? ! — guillemets « » — 100 € avec une espace.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800" y="4064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BF9465"/>
                </a:solidFill>
                <a:latin typeface="DM Serif Display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800" y="45720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Les chiffres en chiffres.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800" y="5016500"/>
            <a:ext cx="32639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2 heures, 100 €, 48 h. Plus vite lu, plus vite compris.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064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BF9465"/>
                </a:solidFill>
                <a:latin typeface="DM Serif Display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45720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Pas de capitales pour crier.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5016500"/>
            <a:ext cx="32639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Les capitales sont pour les étiquettes. Un titre en capitales, c'est un client qui hausse le ton.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La grille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Les LEGO de Nine étaient symétriques. Ses visuels aussi : tout se pose dans une grille de neuf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06.1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Neuf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06.2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Trois mises en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06 · La grille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5207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Tout tient
dans neuf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1C18"/>
                </a:solidFill>
                <a:latin typeface="DM Serif Display"/>
              </a:rPr>
              <a:t>Trois par trois.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686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Chaque format se découpe en 3 × 3, avec une marge de 1/12 du côté.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9725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1C18"/>
                </a:solidFill>
                <a:latin typeface="DM Serif Display"/>
              </a:rPr>
              <a:t>Des cases entières.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5285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Un texte ou une photo occupe 1, 2, 3, 6 ou 9 cases. Jamais une demi-case.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3815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1C18"/>
                </a:solidFill>
                <a:latin typeface="DM Serif Display"/>
              </a:rPr>
              <a:t>Le coin est réservé.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3710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La case en haut à droite accueille la touche : logo, symbole, prix ou étiquette.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6575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1C18"/>
                </a:solidFill>
                <a:latin typeface="DM Serif Display"/>
              </a:rPr>
              <a:t>Des angles droits.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21350"/>
            <a:ext cx="482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Aucun arrondi, nulle part. Les coins restent des coins.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952500"/>
            <a:ext cx="5207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83917" y="1386417"/>
            <a:ext cx="4339167" cy="4339167"/>
          </a:xfrm>
          <a:prstGeom prst="rect">
            <a:avLst/>
          </a:prstGeom>
          <a:noFill/>
          <a:ln w="9525">
            <a:solidFill>
              <a:srgbClr val="BF946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230306" y="1386417"/>
            <a:ext cx="0" cy="4339166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783917" y="2832806"/>
            <a:ext cx="4339166" cy="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676694" y="1386417"/>
            <a:ext cx="0" cy="4339166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783917" y="4279194"/>
            <a:ext cx="4339166" cy="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9676694" y="1386417"/>
            <a:ext cx="1446389" cy="1446389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6694" y="1386417"/>
            <a:ext cx="1446389" cy="144638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 spc="150">
                <a:solidFill>
                  <a:srgbClr val="1F1C18"/>
                </a:solidFill>
                <a:latin typeface="DM Sans"/>
              </a:rPr>
              <a:t>LE COIN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6261100"/>
            <a:ext cx="520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45B"/>
                </a:solidFill>
                <a:latin typeface="DM Sans"/>
              </a:rPr>
              <a:t>Post Instagram 1080 × 1080 · marge 90 px · case 300 px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06 · La grille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Trois mises en page,
et c'est tout.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2286000"/>
            <a:ext cx="3048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2286000"/>
            <a:ext cx="3048000" cy="3048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3386667"/>
            <a:ext cx="2540000" cy="169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F4EEE4"/>
                </a:solidFill>
                <a:latin typeface="DM Serif Display"/>
              </a:rPr>
              <a:t>On range.
Vous respirez.</a:t>
            </a:r>
          </a:p>
        </p:txBody>
      </p:sp>
      <p:pic>
        <p:nvPicPr>
          <p:cNvPr id="9" name="Picture 8" descr="nine-symbole-c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0" y="2540000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588000"/>
            <a:ext cx="3454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La phrase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0"/>
            <a:ext cx="3327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Une phrase de la voix, sur six cases. Le symbole dans le coin.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286000"/>
            <a:ext cx="3048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286000"/>
            <a:ext cx="1511300" cy="3048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286000"/>
            <a:ext cx="15113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4572000" y="2286000"/>
            <a:ext cx="15113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4699000" y="3492500"/>
            <a:ext cx="12573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9000" y="3492500"/>
            <a:ext cx="12573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700" y="2286000"/>
            <a:ext cx="1511300" cy="3048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08700" y="2286000"/>
            <a:ext cx="15113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6108700" y="2286000"/>
            <a:ext cx="15113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235700" y="3492500"/>
            <a:ext cx="12573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5700" y="3492500"/>
            <a:ext cx="12573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Après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26000" y="4851400"/>
            <a:ext cx="587025" cy="21717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6000" y="4851400"/>
            <a:ext cx="587025" cy="21717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26">
                <a:solidFill>
                  <a:srgbClr val="F4EEE4"/>
                </a:solidFill>
                <a:latin typeface="DM Sans"/>
              </a:rPr>
              <a:t>AVANT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4851400"/>
            <a:ext cx="571596" cy="21717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0" y="4851400"/>
            <a:ext cx="571596" cy="21717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26">
                <a:solidFill>
                  <a:srgbClr val="1F1C18"/>
                </a:solidFill>
                <a:latin typeface="DM Sans"/>
              </a:rPr>
              <a:t>APRÈS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8800" y="5588000"/>
            <a:ext cx="3454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L'avant / après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8800" y="6000750"/>
            <a:ext cx="3327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Deux photos, même cadrage, chacune sur une demi-largeur. Les étiquettes en bas.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1200" y="2286000"/>
            <a:ext cx="3048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78533" y="2540000"/>
            <a:ext cx="846667" cy="846667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8533" y="2540000"/>
            <a:ext cx="846667" cy="84666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0" i="0">
                <a:solidFill>
                  <a:srgbClr val="1F1C18"/>
                </a:solidFill>
                <a:latin typeface="DM Serif Display"/>
              </a:rPr>
              <a:t>100 €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5200" y="3386667"/>
            <a:ext cx="2540000" cy="8466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200" b="0" i="0">
                <a:solidFill>
                  <a:srgbClr val="1F1C18"/>
                </a:solidFill>
                <a:latin typeface="DM Serif Display"/>
              </a:rPr>
              <a:t>Un coin.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5200" y="4233333"/>
            <a:ext cx="2540000" cy="8466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2 heures. Un placard, une entrée, une salle de bain.</a:t>
            </a:r>
          </a:p>
        </p:txBody>
      </p:sp>
      <p:pic>
        <p:nvPicPr>
          <p:cNvPr id="34" name="Picture 33" descr="nine-logo-enc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0" y="2578100"/>
            <a:ext cx="931333" cy="34731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28000" y="5588000"/>
            <a:ext cx="3454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L'offre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0" y="6000750"/>
            <a:ext cx="3327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Le nom, la durée, le prix. Une case tomate, pas deux.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La photo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Des vraies photos, prises par Nine, chez de vrais clients qui ont dit oui. Rien d'autre.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07.1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Quatre principes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07.2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L'avant / après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07 · La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Quatre principes.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14500"/>
            <a:ext cx="2590800" cy="2667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09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609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736600" y="2730500"/>
            <a:ext cx="23368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730500"/>
            <a:ext cx="2336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Étagère, lumière du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0"/>
            <a:ext cx="25908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La lumière du jour.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2705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F1C18"/>
                </a:solidFill>
                <a:latin typeface="DM Sans"/>
              </a:rPr>
              <a:t>Fenêtre ouverte, plafonnier éteint. Pas de flash, pas de filtre.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3600" y="1714500"/>
            <a:ext cx="2590800" cy="2667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403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3403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3530600" y="2730500"/>
            <a:ext cx="23368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0600" y="2730500"/>
            <a:ext cx="2336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Placard, de 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3600" y="4572000"/>
            <a:ext cx="25908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De 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3600" y="52705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F1C18"/>
                </a:solidFill>
                <a:latin typeface="DM Sans"/>
              </a:rPr>
              <a:t>L'appareil droit, à hauteur du meuble. Les lignes verticales restent verticales.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7600" y="1714500"/>
            <a:ext cx="2590800" cy="2667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197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6197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6324600" y="2730500"/>
            <a:ext cx="23368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600" y="2730500"/>
            <a:ext cx="2336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Les mains de Nine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7600" y="4572000"/>
            <a:ext cx="25908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Les mains, pas les visages.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7600" y="52705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F1C18"/>
                </a:solidFill>
                <a:latin typeface="DM Sans"/>
              </a:rPr>
              <a:t>On montre Nine au travail, pas les clients. Aucune adresse, aucun courrier lisible.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1600" y="1714500"/>
            <a:ext cx="2590800" cy="2667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991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8991600" y="1714500"/>
            <a:ext cx="2590800" cy="2667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9118600" y="2730500"/>
            <a:ext cx="23368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8600" y="2730500"/>
            <a:ext cx="2336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Tiroir, tel quel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600" y="4572000"/>
            <a:ext cx="25908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Rien de mis en scène.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1600" y="5270500"/>
            <a:ext cx="2540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F1C18"/>
                </a:solidFill>
                <a:latin typeface="DM Sans"/>
              </a:rPr>
              <a:t>Pas de fleurs posées pour la photo, pas d'images de banque. Le vrai placard, rangé.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07 · La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L'avant / après.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Le contenu qui rassure le plus. Pris du même endroit, avec la même lumière, le même cadrage : on marque l'emplacement des pieds au scotch kraft.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540000"/>
            <a:ext cx="3556000" cy="3048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09600" y="2540000"/>
            <a:ext cx="35560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609600" y="2540000"/>
            <a:ext cx="35560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736600" y="3746500"/>
            <a:ext cx="33020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37465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1800" y="2540000"/>
            <a:ext cx="3556000" cy="3048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41800" y="2540000"/>
            <a:ext cx="35560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4241800" y="2540000"/>
            <a:ext cx="3556000" cy="3048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4368800" y="3746500"/>
            <a:ext cx="33020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800" y="37465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Après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181600"/>
            <a:ext cx="717488" cy="26543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181600"/>
            <a:ext cx="717488" cy="26543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 spc="154">
                <a:solidFill>
                  <a:srgbClr val="F4EEE4"/>
                </a:solidFill>
                <a:latin typeface="DM Sans"/>
              </a:rPr>
              <a:t>AVANT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4200" y="5181600"/>
            <a:ext cx="1130062" cy="26543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4200" y="5181600"/>
            <a:ext cx="1130062" cy="26543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 spc="154">
                <a:solidFill>
                  <a:srgbClr val="1F1C18"/>
                </a:solidFill>
                <a:latin typeface="DM Sans"/>
              </a:rPr>
              <a:t>APRÈS · 2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2540000"/>
            <a:ext cx="3200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Même 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2895600"/>
            <a:ext cx="32004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Un repère au sol, l'appareil à la même hauteur.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3587750"/>
            <a:ext cx="3200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Même lumière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3943350"/>
            <a:ext cx="32004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Même heure si possible, même source.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4635500"/>
            <a:ext cx="3200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Accord écrit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4991100"/>
            <a:ext cx="32004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Deux autorisations distinctes : prendre la photo, puis la publier.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Le trait et la matière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Des pictogrammes au trait, comme sur le site actuel. Et les vraies matières du métier : le kraft, le carton, l'étiqueteuse.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08.1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Les pictogrammes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08.2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L'étiquette et le kraft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08.3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 mouvement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08 · Le trait et la matière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Les pictogrammes.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Un trait encre d'épaisseur constante, des angles droits, des objets du quotidien. Le carré tomate apparaît une fois par picto, au plus.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67000"/>
            <a:ext cx="1651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7100" y="2984500"/>
            <a:ext cx="1016000" cy="10160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4433" y="2984500"/>
            <a:ext cx="338667" cy="338667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127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1F1C18"/>
                </a:solidFill>
                <a:latin typeface="DM Sans"/>
              </a:rPr>
              <a:t>Un coin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3800" y="2667000"/>
            <a:ext cx="1651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2921000"/>
            <a:ext cx="635000" cy="11430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6300" y="3492500"/>
            <a:ext cx="88900" cy="889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717800" y="4064000"/>
            <a:ext cx="1143000" cy="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2463800" y="4127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1F1C18"/>
                </a:solidFill>
                <a:latin typeface="DM Sans"/>
              </a:rPr>
              <a:t>Une pièce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2667000"/>
            <a:ext cx="1651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35500" y="3048000"/>
            <a:ext cx="1016000" cy="9525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635500" y="3302000"/>
            <a:ext cx="1016000" cy="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4889500" y="2921000"/>
            <a:ext cx="0" cy="22860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397500" y="2921000"/>
            <a:ext cx="0" cy="22860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794250" y="3441700"/>
            <a:ext cx="152400" cy="1524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0950" y="3441700"/>
            <a:ext cx="152400" cy="1524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7650" y="3441700"/>
            <a:ext cx="152400" cy="1524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94250" y="3708400"/>
            <a:ext cx="152400" cy="1524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60950" y="3708400"/>
            <a:ext cx="152400" cy="1524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7650" y="3708400"/>
            <a:ext cx="152400" cy="1524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8000" y="4127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1F1C18"/>
                </a:solidFill>
                <a:latin typeface="DM Sans"/>
              </a:rPr>
              <a:t>Réserver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667000"/>
            <a:ext cx="1651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6200" y="3111500"/>
            <a:ext cx="1143000" cy="2540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02400" y="3365500"/>
            <a:ext cx="990600" cy="6985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07200" y="3587750"/>
            <a:ext cx="381000" cy="1905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127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1F1C18"/>
                </a:solidFill>
                <a:latin typeface="DM Sans"/>
              </a:rPr>
              <a:t>La boîte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6400" y="2667000"/>
            <a:ext cx="1651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80400" y="2984500"/>
            <a:ext cx="1143000" cy="1079500"/>
          </a:xfrm>
          <a:prstGeom prst="rect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280400" y="3524250"/>
            <a:ext cx="1143000" cy="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8693150" y="3251200"/>
            <a:ext cx="317500" cy="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8693150" y="3790950"/>
            <a:ext cx="317500" cy="0"/>
          </a:xfrm>
          <a:prstGeom prst="line">
            <a:avLst/>
          </a:prstGeom>
          <a:ln w="44450">
            <a:solidFill>
              <a:srgbClr val="1F1C18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8026400" y="4127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1F1C18"/>
                </a:solidFill>
                <a:latin typeface="DM Sans"/>
              </a:rPr>
              <a:t>Le tiroir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80600" y="2667000"/>
            <a:ext cx="1651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entagon 39"/>
          <p:cNvSpPr/>
          <p:nvPr/>
        </p:nvSpPr>
        <p:spPr>
          <a:xfrm>
            <a:off x="10134600" y="3238500"/>
            <a:ext cx="1143000" cy="571500"/>
          </a:xfrm>
          <a:prstGeom prst="homePlate">
            <a:avLst/>
          </a:prstGeom>
          <a:noFill/>
          <a:ln w="444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023600" y="3460750"/>
            <a:ext cx="114300" cy="1143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0600" y="4127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1F1C18"/>
                </a:solidFill>
                <a:latin typeface="DM Sans"/>
              </a:rPr>
              <a:t>L'étiquette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4953000"/>
            <a:ext cx="109728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Construction. </a:t>
            </a:r>
            <a:r>
              <a:rPr sz="1300" b="0" i="0">
                <a:solidFill>
                  <a:srgbClr val="1F1C18"/>
                </a:solidFill>
                <a:latin typeface="DM Sans"/>
              </a:rPr>
              <a:t>Pictos dessinés sur un carré de 24 unités, trait de 2 unités, sans remplissage. Dans Canva, on garde ces six-là comme modèles et on dessine les suivants de la même façon, plutôt que de piocher dans les éléments tout faits.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94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08 · Le trait et la matière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5715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L'étiquette
et le kraft.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L'étiqueteuse est l'outil de Nine. Elle devient un élément de la marque : une bande encre, des capitales espacées, et on étiquette tout, y compris les visuels.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270000"/>
            <a:ext cx="1568056" cy="41021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1270000"/>
            <a:ext cx="1568056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F4EEE4"/>
                </a:solidFill>
                <a:latin typeface="DM Sans"/>
              </a:rPr>
              <a:t>À GARDER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40500" y="1968500"/>
            <a:ext cx="1594820" cy="41021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0500" y="1968500"/>
            <a:ext cx="1594820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F4EEE4"/>
                </a:solidFill>
                <a:latin typeface="DM Sans"/>
              </a:rPr>
              <a:t>À DONNER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0" y="2667000"/>
            <a:ext cx="1299457" cy="41021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2667000"/>
            <a:ext cx="1299457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F4EEE4"/>
                </a:solidFill>
                <a:latin typeface="DM Sans"/>
              </a:rPr>
              <a:t>À JETER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0500" y="3365500"/>
            <a:ext cx="1556150" cy="41021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3365500"/>
            <a:ext cx="1556150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1F1C18"/>
                </a:solidFill>
                <a:latin typeface="DM Sans"/>
              </a:rPr>
              <a:t>RÉSERVER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4064000"/>
            <a:ext cx="2489463" cy="41021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0" y="4064000"/>
            <a:ext cx="2489463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1F1C18"/>
                </a:solidFill>
                <a:latin typeface="DM Sans"/>
              </a:rPr>
              <a:t>2 HEURES · 100 €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0500" y="4762500"/>
            <a:ext cx="4340517" cy="41021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0500" y="4762500"/>
            <a:ext cx="4340517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F4EEE4"/>
                </a:solidFill>
                <a:latin typeface="DM Sans"/>
              </a:rPr>
              <a:t>ON RANGE, ON NE NETTOIE 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826000"/>
            <a:ext cx="5207000" cy="165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F1C18"/>
                </a:solidFill>
                <a:latin typeface="DM Sans"/>
              </a:rPr>
              <a:t>Usages. </a:t>
            </a:r>
            <a:r>
              <a:rPr sz="1300" b="0" i="0">
                <a:solidFill>
                  <a:srgbClr val="1F1C18"/>
                </a:solidFill>
                <a:latin typeface="DM Sans"/>
              </a:rPr>
              <a:t>Titres de rubrique, prix, avant / après, stickers sur les boîtes, bandeau de story. Le texte de l'étiquette est toujours un fait, jamais une blague.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5715000"/>
            <a:ext cx="52324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Fond kraft : une vraie photo de papier ou de carton, de préférence à l'aplat.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08 · Le trait et la matière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5715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 mouvement :
ça se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5207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Pour les reels, les stories et le site. Les éléments glissent et s'emboîtent dans la grille, comme des boîtes sur une étagère. Le coin tomate arrive en dernier.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397000"/>
            <a:ext cx="1206500" cy="1206500"/>
          </a:xfrm>
          <a:prstGeom prst="rect">
            <a:avLst/>
          </a:prstGeom>
          <a:noFill/>
          <a:ln w="12700">
            <a:solidFill>
              <a:srgbClr val="E5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35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69875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45B"/>
                </a:solidFill>
                <a:latin typeface="DM Sans"/>
              </a:rPr>
              <a:t>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3500" y="1397000"/>
            <a:ext cx="1206500" cy="1206500"/>
          </a:xfrm>
          <a:prstGeom prst="rect">
            <a:avLst/>
          </a:prstGeom>
          <a:noFill/>
          <a:ln w="12700">
            <a:solidFill>
              <a:srgbClr val="E5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70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53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3500" y="269875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45B"/>
                </a:solidFill>
                <a:latin typeface="DM Sans"/>
              </a:rPr>
              <a:t>120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7000" y="1397000"/>
            <a:ext cx="1206500" cy="1206500"/>
          </a:xfrm>
          <a:prstGeom prst="rect">
            <a:avLst/>
          </a:prstGeom>
          <a:noFill/>
          <a:ln w="12700">
            <a:solidFill>
              <a:srgbClr val="E5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05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488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171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7000" y="269875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45B"/>
                </a:solidFill>
                <a:latin typeface="DM Sans"/>
              </a:rPr>
              <a:t>240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50500" y="1397000"/>
            <a:ext cx="1206500" cy="1206500"/>
          </a:xfrm>
          <a:prstGeom prst="rect">
            <a:avLst/>
          </a:prstGeom>
          <a:noFill/>
          <a:ln w="12700">
            <a:solidFill>
              <a:srgbClr val="E5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140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23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0600" y="2235200"/>
            <a:ext cx="330200" cy="3048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50600" y="1460500"/>
            <a:ext cx="330200" cy="3302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0500" y="269875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45B"/>
                </a:solidFill>
                <a:latin typeface="DM Sans"/>
              </a:rPr>
              <a:t>400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39370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Court.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2600" y="3962400"/>
            <a:ext cx="825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Une animation dure entre 200 et 400 ms. Un reel « 1 tiroir, 1 transformation », 15 secondes.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7625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Net.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2600" y="4787900"/>
            <a:ext cx="825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Ça glisse et ça s'arrête. Pas de rebond, pas de rotation, pas d'effet « magie 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5880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Le coin en dernier.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2600" y="5613400"/>
            <a:ext cx="825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La touche tomate apparaît quand tout est rangé : c'est la signature.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1778000" cy="1778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762000"/>
            <a:ext cx="5715000" cy="444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0000"/>
              </a:lnSpc>
            </a:pPr>
            <a:r>
              <a:rPr sz="31000" b="0" i="0">
                <a:solidFill>
                  <a:srgbClr val="F4EEE4"/>
                </a:solidFill>
                <a:latin typeface="DM Serif Display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905000"/>
            <a:ext cx="5207000" cy="1841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F4EEE4"/>
                </a:solidFill>
                <a:latin typeface="DM Serif Display"/>
              </a:rPr>
              <a:t>En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3937000"/>
            <a:ext cx="4826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4EEE4"/>
                </a:solidFill>
                <a:latin typeface="DM Sans"/>
              </a:rPr>
              <a:t>La charte appliquée aux supports du lancement : de quoi démarrer dans Canva dès maintenant.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09.1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Carte et flyer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09.2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58039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09.3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Stories et profil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60706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09.4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Le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705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09.5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Tenue et matériel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0" y="5537200"/>
            <a:ext cx="24765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9465"/>
                </a:solidFill>
                <a:latin typeface="DM Sans"/>
              </a:rPr>
              <a:t>09.6   </a:t>
            </a:r>
            <a:r>
              <a:rPr sz="1100" b="1" i="0">
                <a:solidFill>
                  <a:srgbClr val="F4EEE4"/>
                </a:solidFill>
                <a:latin typeface="DM Sans"/>
              </a:rPr>
              <a:t>Avant de publier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516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D3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09 ·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4445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Carte de visite
et flyer.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4064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Carte 85 × 55 mm, flyer A5. Papier kraft ou blanc mat non couché : on doit sentir la matière.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7000" y="952500"/>
            <a:ext cx="3238500" cy="20955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nine-signature-c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50" y="1524000"/>
            <a:ext cx="1905000" cy="974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07000" y="3302000"/>
            <a:ext cx="3238500" cy="209550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0" y="3302000"/>
            <a:ext cx="444500" cy="4445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5600" y="3530600"/>
            <a:ext cx="2540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F1C18"/>
                </a:solidFill>
                <a:latin typeface="DM Serif Display"/>
              </a:rPr>
              <a:t>Nine Marquer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5600" y="3937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B645B"/>
                </a:solidFill>
                <a:latin typeface="DM Sans"/>
              </a:rPr>
              <a:t>Vous réservez. Nine range.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5600" y="45720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1C18"/>
                </a:solidFill>
                <a:latin typeface="DM Sans"/>
              </a:rPr>
              <a:t>06 15 24 08 25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1C18"/>
                </a:solidFill>
                <a:latin typeface="DM Sans"/>
              </a:rPr>
              <a:t>nine.marquer@gmail.com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1C18"/>
                </a:solidFill>
                <a:latin typeface="DM Sans"/>
              </a:rPr>
              <a:t>Saint-Nazaire · Nantes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000" y="952500"/>
            <a:ext cx="2692400" cy="3820297"/>
          </a:xfrm>
          <a:prstGeom prst="rect">
            <a:avLst/>
          </a:prstGeom>
          <a:solidFill>
            <a:srgbClr val="F4EEE4"/>
          </a:solidFill>
          <a:ln w="635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84933" y="952500"/>
            <a:ext cx="897467" cy="897467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nine-logo-enc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1130300"/>
            <a:ext cx="952500" cy="355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67800" y="1905000"/>
            <a:ext cx="2336800" cy="1206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300" b="0" i="0">
                <a:solidFill>
                  <a:srgbClr val="1F1C18"/>
                </a:solidFill>
                <a:latin typeface="DM Serif Display"/>
              </a:rPr>
              <a:t>Vous n'aimez pas ranger. Nine, 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800" y="3111500"/>
            <a:ext cx="23368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F1C18"/>
                </a:solidFill>
                <a:latin typeface="DM Sans"/>
              </a:rPr>
              <a:t>Je viens, je range, c'est réglé. Réservation en trois clics, prix affiché.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67800" y="3556000"/>
            <a:ext cx="2336800" cy="0"/>
          </a:xfrm>
          <a:prstGeom prst="line">
            <a:avLst/>
          </a:prstGeom>
          <a:ln w="9525">
            <a:solidFill>
              <a:srgbClr val="1F1C1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9067800" y="3632200"/>
            <a:ext cx="11684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1C18"/>
                </a:solidFill>
                <a:latin typeface="DM Serif Display"/>
              </a:rPr>
              <a:t>Un coin</a:t>
            </a:r>
          </a:p>
          <a:p>
            <a:pPr algn="l"/>
            <a:r>
              <a:rPr sz="850" b="0" i="0">
                <a:solidFill>
                  <a:srgbClr val="1F1C18"/>
                </a:solidFill>
                <a:latin typeface="DM Sans"/>
              </a:rPr>
              <a:t>2 h · 100 €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6200" y="3632200"/>
            <a:ext cx="11684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1C18"/>
                </a:solidFill>
                <a:latin typeface="DM Serif Display"/>
              </a:rPr>
              <a:t>Une pièce</a:t>
            </a:r>
          </a:p>
          <a:p>
            <a:pPr algn="l"/>
            <a:r>
              <a:rPr sz="850" b="0" i="0">
                <a:solidFill>
                  <a:srgbClr val="1F1C18"/>
                </a:solidFill>
                <a:latin typeface="DM Sans"/>
              </a:rPr>
              <a:t>½ journée · 200 €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7800" y="4391797"/>
            <a:ext cx="1760844" cy="19304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7800" y="4391797"/>
            <a:ext cx="1760844" cy="193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800" b="1" i="0" spc="112">
                <a:solidFill>
                  <a:srgbClr val="F4EEE4"/>
                </a:solidFill>
                <a:latin typeface="DM Sans"/>
              </a:rPr>
              <a:t>RÉSERVER · 06 15 24 08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230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Carte recto, carte verso, flyer A5 recto.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09 ·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Instagram : trois modèles.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605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Trois publications par semaine, toujours sur ces trois modèles. Le fil se reconnaît de loin, comme une étagère bien rangée.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86000"/>
            <a:ext cx="3302000" cy="3302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54022" y="2561167"/>
            <a:ext cx="458611" cy="458611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967" y="3386667"/>
            <a:ext cx="2751667" cy="183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700" b="0" i="0">
                <a:solidFill>
                  <a:srgbClr val="F4EEE4"/>
                </a:solidFill>
                <a:latin typeface="DM Serif Display"/>
              </a:rPr>
              <a:t>Ranger, ça se délègue.</a:t>
            </a:r>
          </a:p>
        </p:txBody>
      </p:sp>
      <p:pic>
        <p:nvPicPr>
          <p:cNvPr id="10" name="Picture 9" descr="nine-logo-c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67" y="4995333"/>
            <a:ext cx="825500" cy="3078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778500"/>
            <a:ext cx="3454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La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59500"/>
            <a:ext cx="34544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Une phrase de la voix, rien d'autre.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5000" y="2286000"/>
            <a:ext cx="1638300" cy="3302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445000" y="2286000"/>
            <a:ext cx="1638300" cy="3302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4445000" y="2286000"/>
            <a:ext cx="1638300" cy="3302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4572000" y="3619500"/>
            <a:ext cx="13843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19500"/>
            <a:ext cx="13843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700" y="2286000"/>
            <a:ext cx="1638300" cy="3302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08700" y="2286000"/>
            <a:ext cx="1638300" cy="3302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6108700" y="2286000"/>
            <a:ext cx="1638300" cy="3302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235700" y="3619500"/>
            <a:ext cx="13843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5700" y="3619500"/>
            <a:ext cx="13843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Après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0167" y="2561167"/>
            <a:ext cx="1811382" cy="19304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0167" y="2561167"/>
            <a:ext cx="1811382" cy="193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800" b="1" i="0" spc="112">
                <a:solidFill>
                  <a:srgbClr val="F4EEE4"/>
                </a:solidFill>
                <a:latin typeface="DM Sans"/>
              </a:rPr>
              <a:t>TIROIR DE CUISINE · 40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1167" y="5109633"/>
            <a:ext cx="508113" cy="19304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1167" y="5109633"/>
            <a:ext cx="508113" cy="193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800" b="1" i="0" spc="112">
                <a:solidFill>
                  <a:srgbClr val="1F1C18"/>
                </a:solidFill>
                <a:latin typeface="DM Sans"/>
              </a:rPr>
              <a:t>APRÈS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8800" y="5778500"/>
            <a:ext cx="3454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L'avant / après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8800" y="6159500"/>
            <a:ext cx="34544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Le contenu qui rassure. Durée réelle sur l'étiquette.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4200" y="2286000"/>
            <a:ext cx="3302000" cy="3302000"/>
          </a:xfrm>
          <a:prstGeom prst="rect">
            <a:avLst/>
          </a:prstGeom>
          <a:solidFill>
            <a:srgbClr val="F4EEE4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13811" y="2561167"/>
            <a:ext cx="917222" cy="917222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3811" y="2561167"/>
            <a:ext cx="917222" cy="91722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F1C18"/>
                </a:solidFill>
                <a:latin typeface="DM Serif Display"/>
              </a:rPr>
              <a:t>100 €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1C18"/>
                </a:solidFill>
                <a:latin typeface="DM Sans"/>
              </a:rPr>
              <a:t>2 heures</a:t>
            </a:r>
          </a:p>
        </p:txBody>
      </p:sp>
      <p:pic>
        <p:nvPicPr>
          <p:cNvPr id="32" name="Picture 31" descr="nine-logo-enc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367" y="2624667"/>
            <a:ext cx="889000" cy="3315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79367" y="3541889"/>
            <a:ext cx="2751667" cy="9172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000" b="0" i="0">
                <a:solidFill>
                  <a:srgbClr val="1F1C18"/>
                </a:solidFill>
                <a:latin typeface="DM Serif Display"/>
              </a:rPr>
              <a:t>Un coin.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9367" y="4395611"/>
            <a:ext cx="2751667" cy="9172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Un placard, une entrée, une salle de bain. Vous réservez, Nine range.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0" y="5778500"/>
            <a:ext cx="34544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L'offre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0" y="6159500"/>
            <a:ext cx="34544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1C18"/>
                </a:solidFill>
                <a:latin typeface="DM Sans"/>
              </a:rPr>
              <a:t>Une fois par semaine au plus.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09 ·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4445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1F1C18"/>
                </a:solidFill>
                <a:latin typeface="DM Serif Display"/>
              </a:rPr>
              <a:t>Stories, reels
et profil.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3000"/>
            <a:ext cx="4064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Stories les jours d'intervention : le kit dans le coffre, les mains au travail, l'étiquette posée. Couverture de reel : une phrase et une étiquette, dans la même grille.</a:t>
            </a:r>
          </a:p>
        </p:txBody>
      </p:sp>
      <p:pic>
        <p:nvPicPr>
          <p:cNvPr id="7" name="Picture 6" descr="nine-symb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0"/>
            <a:ext cx="114300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43100" y="4699000"/>
            <a:ext cx="3175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F1C18"/>
                </a:solidFill>
                <a:latin typeface="DM Sans"/>
              </a:rPr>
              <a:t>Photo de profil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Le symbole, partout. Il reste lisible en tout petit, là où le mot ne l'est pas.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7000" y="825500"/>
            <a:ext cx="2032000" cy="3612444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207000" y="825500"/>
            <a:ext cx="2032000" cy="3612444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H="1">
            <a:off x="5207000" y="825500"/>
            <a:ext cx="2032000" cy="3612444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5334000" y="2314222"/>
            <a:ext cx="17780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0" y="2314222"/>
            <a:ext cx="17780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Le kit dans le coffre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59400" y="1079500"/>
            <a:ext cx="1257051" cy="21717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9400" y="1079500"/>
            <a:ext cx="1257051" cy="21717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26">
                <a:solidFill>
                  <a:srgbClr val="F4EEE4"/>
                </a:solidFill>
                <a:latin typeface="DM Sans"/>
              </a:rPr>
              <a:t>MARDI · NANTES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59400" y="3866444"/>
            <a:ext cx="812310" cy="21717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9400" y="3866444"/>
            <a:ext cx="812310" cy="21717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26">
                <a:solidFill>
                  <a:srgbClr val="1F1C18"/>
                </a:solidFill>
                <a:latin typeface="DM Sans"/>
              </a:rPr>
              <a:t>EN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7000" y="4539544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Story d'intervention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2200" y="825500"/>
            <a:ext cx="2032000" cy="3612444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0" y="1524000"/>
            <a:ext cx="1676400" cy="165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000" b="0" i="0">
                <a:solidFill>
                  <a:srgbClr val="1F1C18"/>
                </a:solidFill>
                <a:latin typeface="DM Serif Display"/>
              </a:rPr>
              <a:t>Le placard ne va pas se ranger tout seul.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0" y="32385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F4EEE4"/>
                </a:solidFill>
                <a:latin typeface="DM Serif Display"/>
              </a:rPr>
              <a:t>On a vérifié.</a:t>
            </a:r>
          </a:p>
        </p:txBody>
      </p:sp>
      <p:pic>
        <p:nvPicPr>
          <p:cNvPr id="22" name="Picture 21" descr="nine-logo-sur-to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3929944"/>
            <a:ext cx="698500" cy="26048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42200" y="4539544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Story phrase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77400" y="825500"/>
            <a:ext cx="2032000" cy="3612444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77400" y="1587500"/>
            <a:ext cx="2032000" cy="2032000"/>
          </a:xfrm>
          <a:prstGeom prst="rect">
            <a:avLst/>
          </a:prstGeom>
          <a:solidFill>
            <a:srgbClr val="6B64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677400" y="1587500"/>
            <a:ext cx="2032000" cy="2032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9677400" y="1587500"/>
            <a:ext cx="2032000" cy="20320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9804400" y="2286000"/>
            <a:ext cx="1778000" cy="635000"/>
          </a:xfrm>
          <a:prstGeom prst="rect">
            <a:avLst/>
          </a:prstGeom>
          <a:solidFill>
            <a:srgbClr val="6B64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4400" y="2286000"/>
            <a:ext cx="17780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Tiroir, vue du dessus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5200" y="3771900"/>
            <a:ext cx="16764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F4EEE4"/>
                </a:solidFill>
                <a:latin typeface="DM Serif Display"/>
              </a:rPr>
              <a:t>1 tiroir,
1 transformation.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55200" y="1079500"/>
            <a:ext cx="405179" cy="21717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5200" y="1079500"/>
            <a:ext cx="405179" cy="21717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26">
                <a:solidFill>
                  <a:srgbClr val="1F1C18"/>
                </a:solidFill>
                <a:latin typeface="DM Sans"/>
              </a:rPr>
              <a:t>15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7400" y="4539544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45B"/>
                </a:solidFill>
                <a:latin typeface="DM Sans"/>
              </a:rPr>
              <a:t>Couverture de reel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09 ·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Le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24000"/>
            <a:ext cx="4191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1C18"/>
                </a:solidFill>
                <a:latin typeface="DM Sans"/>
              </a:rPr>
              <a:t>On garde la voix et le fond crème du site actuel. On change l'accroche, les offres et la réservation.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7000" y="825500"/>
            <a:ext cx="6375400" cy="546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07000" y="825500"/>
            <a:ext cx="6375400" cy="254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21300" y="914400"/>
            <a:ext cx="76200" cy="762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61000" y="914400"/>
            <a:ext cx="76200" cy="762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914400"/>
            <a:ext cx="76200" cy="762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nine-logo-en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270000"/>
            <a:ext cx="698500" cy="26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88400" y="13081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1F1C18"/>
                </a:solidFill>
                <a:latin typeface="DM Sans"/>
              </a:rPr>
              <a:t>Les offres   Nine  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04556" y="1270000"/>
            <a:ext cx="823844" cy="21717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04556" y="1270000"/>
            <a:ext cx="823844" cy="21717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26">
                <a:solidFill>
                  <a:srgbClr val="1F1C18"/>
                </a:solidFill>
                <a:latin typeface="DM Sans"/>
              </a:rPr>
              <a:t>RÉSERVER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1000" y="1905000"/>
            <a:ext cx="4064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4200" b="0" i="0">
                <a:solidFill>
                  <a:srgbClr val="1F1C18"/>
                </a:solidFill>
                <a:latin typeface="DM Serif Display"/>
              </a:rPr>
              <a:t>Vous n'aimez pas ranger. Nine, 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1000" y="3619500"/>
            <a:ext cx="3556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F1C18"/>
                </a:solidFill>
                <a:latin typeface="DM Sans"/>
              </a:rPr>
              <a:t>Vous réservez un créneau, je viens, je range. Pas de devis, pas de diagnostic.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52000" y="1905000"/>
            <a:ext cx="1676400" cy="20955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652000" y="1905000"/>
            <a:ext cx="1676400" cy="20955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9652000" y="1905000"/>
            <a:ext cx="1676400" cy="2095500"/>
          </a:xfrm>
          <a:prstGeom prst="line">
            <a:avLst/>
          </a:prstGeom>
          <a:ln w="9525">
            <a:solidFill>
              <a:srgbClr val="BF9465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9779000" y="2635250"/>
            <a:ext cx="1422400" cy="635000"/>
          </a:xfrm>
          <a:prstGeom prst="rect">
            <a:avLst/>
          </a:prstGeom>
          <a:solidFill>
            <a:srgbClr val="E5D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9000" y="2635250"/>
            <a:ext cx="14224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b="1" i="0" spc="150">
                <a:solidFill>
                  <a:srgbClr val="1F1C18"/>
                </a:solidFill>
                <a:latin typeface="DM Sans"/>
              </a:rPr>
              <a:t>PHOTO</a:t>
            </a:r>
          </a:p>
          <a:p>
            <a:pPr algn="ctr"/>
            <a:r>
              <a:rPr sz="1000" b="0" i="0">
                <a:solidFill>
                  <a:srgbClr val="1F1C18"/>
                </a:solidFill>
                <a:latin typeface="DM Sans"/>
              </a:rPr>
              <a:t>Nine au travail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1000" y="4381500"/>
            <a:ext cx="2857500" cy="15875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1500" y="4572000"/>
            <a:ext cx="2413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F4EEE4"/>
                </a:solidFill>
                <a:latin typeface="DM Serif Display"/>
              </a:rPr>
              <a:t>Un coin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1500" y="50800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F4EEE4"/>
                </a:solidFill>
                <a:latin typeface="DM Sans"/>
              </a:rPr>
              <a:t>2 h · 100 €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1500" y="55880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E5452A"/>
                </a:solidFill>
                <a:latin typeface="DM Sans"/>
              </a:rPr>
              <a:t>RÉSERVER 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45500" y="4381500"/>
            <a:ext cx="2857500" cy="1587500"/>
          </a:xfrm>
          <a:prstGeom prst="rect">
            <a:avLst/>
          </a:prstGeom>
          <a:noFill/>
          <a:ln w="12700">
            <a:solidFill>
              <a:srgbClr val="1F1C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36000" y="4572000"/>
            <a:ext cx="2413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F1C18"/>
                </a:solidFill>
                <a:latin typeface="DM Serif Display"/>
              </a:rPr>
              <a:t>Une pièce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6000" y="50800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F1C18"/>
                </a:solidFill>
                <a:latin typeface="DM Sans"/>
              </a:rPr>
              <a:t>½ journée · 200 €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6000" y="55880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i="0" spc="150">
                <a:solidFill>
                  <a:srgbClr val="1F1C18"/>
                </a:solidFill>
                <a:latin typeface="DM Sans"/>
              </a:rPr>
              <a:t>RÉSERVER 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6270" y="2759456"/>
            <a:ext cx="44450" cy="42672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680720" y="2706116"/>
            <a:ext cx="85344" cy="96012"/>
          </a:xfrm>
          <a:prstGeom prst="line">
            <a:avLst/>
          </a:prstGeom>
          <a:ln w="19558">
            <a:solidFill>
              <a:srgbClr val="E5452A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914400" y="26670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Accroche : « Vous n'aimez pas ranger. Nine, si. 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6270" y="3330956"/>
            <a:ext cx="44450" cy="4267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680720" y="3277616"/>
            <a:ext cx="85344" cy="9601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914400" y="32385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Deux offres en vitrine, prix affiché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6270" y="3902456"/>
            <a:ext cx="44450" cy="4267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cxnSp>
        <p:nvCxnSpPr>
          <p:cNvPr id="38" name="Connector 37"/>
          <p:cNvCxnSpPr/>
          <p:nvPr/>
        </p:nvCxnSpPr>
        <p:spPr>
          <a:xfrm flipV="1">
            <a:off x="680720" y="3849116"/>
            <a:ext cx="85344" cy="9601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914400" y="38100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Réservation en trois clics, dès 48 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6270" y="4473956"/>
            <a:ext cx="44450" cy="4267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680720" y="4420616"/>
            <a:ext cx="85344" cy="96012"/>
          </a:xfrm>
          <a:prstGeom prst="line">
            <a:avLst/>
          </a:prstGeom>
          <a:ln w="19558">
            <a:solidFill>
              <a:srgbClr val="1F1C18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914400" y="43815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Plus de diagnostic, de caméra ni de prix barrés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09 ·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Tenue et matériel.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Nine entre chez les gens : la marque doit la rendre identifiable et rassurante, pas déguisée.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5100" y="2413000"/>
            <a:ext cx="1905000" cy="26670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3600" y="2413000"/>
            <a:ext cx="698500" cy="9525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13100" y="2413000"/>
            <a:ext cx="698500" cy="95250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70100" y="2413000"/>
            <a:ext cx="635000" cy="19050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nine-symbole-c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285750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2705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1F1C18"/>
                </a:solidFill>
                <a:latin typeface="DM Sans"/>
              </a:rPr>
              <a:t>Le haut. </a:t>
            </a:r>
            <a:r>
              <a:rPr sz="1200" b="0" i="0">
                <a:solidFill>
                  <a:srgbClr val="1F1C18"/>
                </a:solidFill>
                <a:latin typeface="DM Sans"/>
              </a:rPr>
              <a:t>Encre, symbole crème brodé côté cœur. Deux exemplaires.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6000" y="2667000"/>
            <a:ext cx="2667000" cy="508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0" y="3175000"/>
            <a:ext cx="2413000" cy="1905000"/>
          </a:xfrm>
          <a:prstGeom prst="rect">
            <a:avLst/>
          </a:prstGeom>
          <a:solidFill>
            <a:srgbClr val="BF94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953000" y="3175000"/>
            <a:ext cx="2413000" cy="0"/>
          </a:xfrm>
          <a:prstGeom prst="line">
            <a:avLst/>
          </a:prstGeom>
          <a:ln w="12700">
            <a:solidFill>
              <a:srgbClr val="1F1C18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5778500" y="3746500"/>
            <a:ext cx="762000" cy="76200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nine-symb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873500"/>
            <a:ext cx="508000" cy="50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45000" y="5270500"/>
            <a:ext cx="3302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1F1C18"/>
                </a:solidFill>
                <a:latin typeface="DM Sans"/>
              </a:rPr>
              <a:t>Le sticker. </a:t>
            </a:r>
            <a:r>
              <a:rPr sz="1200" b="0" i="0">
                <a:solidFill>
                  <a:srgbClr val="1F1C18"/>
                </a:solidFill>
                <a:latin typeface="DM Sans"/>
              </a:rPr>
              <a:t>Le symbole sur fond crème, 5 cm, sur la caisse de matériel.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9000" y="2794000"/>
            <a:ext cx="1568056" cy="41021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9000" y="2794000"/>
            <a:ext cx="1568056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F4EEE4"/>
                </a:solidFill>
                <a:latin typeface="DM Sans"/>
              </a:rPr>
              <a:t>À GARDER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9000" y="3365500"/>
            <a:ext cx="1594820" cy="410210"/>
          </a:xfrm>
          <a:prstGeom prst="rect">
            <a:avLst/>
          </a:prstGeom>
          <a:solidFill>
            <a:srgbClr val="1F1C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9000" y="3365500"/>
            <a:ext cx="1594820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F4EEE4"/>
                </a:solidFill>
                <a:latin typeface="DM Sans"/>
              </a:rPr>
              <a:t>À DONNER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9000" y="3937000"/>
            <a:ext cx="1299457" cy="410210"/>
          </a:xfrm>
          <a:prstGeom prst="rect">
            <a:avLst/>
          </a:prstGeom>
          <a:solidFill>
            <a:srgbClr val="F4EE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9000" y="3937000"/>
            <a:ext cx="1299457" cy="41021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700" b="1" i="0" spc="238">
                <a:solidFill>
                  <a:srgbClr val="1F1C18"/>
                </a:solidFill>
                <a:latin typeface="DM Sans"/>
              </a:rPr>
              <a:t>À JETER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9000" y="5270500"/>
            <a:ext cx="30734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1F1C18"/>
                </a:solidFill>
                <a:latin typeface="DM Sans"/>
              </a:rPr>
              <a:t>Les sacs de tri. </a:t>
            </a:r>
            <a:r>
              <a:rPr sz="1200" b="0" i="0">
                <a:solidFill>
                  <a:srgbClr val="1F1C18"/>
                </a:solidFill>
                <a:latin typeface="DM Sans"/>
              </a:rPr>
              <a:t>Étiquetés devant le client : c'est déjà la marque.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F4EEE4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F4EEE4"/>
                </a:solidFill>
                <a:latin typeface="DM Sans"/>
              </a:rPr>
              <a:t>09 ·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F4EEE4"/>
                </a:solidFill>
                <a:latin typeface="DM Sans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F4EEE4"/>
                </a:solidFill>
                <a:latin typeface="DM Serif Display"/>
              </a:rPr>
              <a:t>Avant de publier :
neuf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6000"/>
            <a:ext cx="4064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F9465"/>
                </a:solidFill>
                <a:latin typeface="DM Sans"/>
              </a:rPr>
              <a:t>Neuf oui, on publie. Un non, on range encore un peu.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8000" y="6985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40400" y="8255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0400" y="16256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Une seule touche de tomate 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1533" y="6985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63933" y="8255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933" y="16256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Le titre est une phrase, avec un point 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5067" y="698500"/>
            <a:ext cx="1947333" cy="18161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7467" y="8255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F1C18"/>
                </a:solidFill>
                <a:latin typeface="DM Serif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7467" y="16256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C18"/>
                </a:solidFill>
                <a:latin typeface="DM Sans"/>
              </a:rPr>
              <a:t>Tout tient dans la grille 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8000" y="25908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0400" y="27178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0400" y="35179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Aucun mot de la liste « on évite » 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1533" y="25908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63933" y="27178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933" y="35179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Lisible en une seconde 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5067" y="25908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7467" y="27178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7467" y="35179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Le logo a de l'air autour 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8000" y="44831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0400" y="46101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0400" y="54102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Ni visage ni adresse de client 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11533" y="44831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3933" y="46101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933" y="54102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Lumière du jour, de face 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35067" y="4483100"/>
            <a:ext cx="1947333" cy="1816100"/>
          </a:xfrm>
          <a:prstGeom prst="rect">
            <a:avLst/>
          </a:prstGeom>
          <a:noFill/>
          <a:ln w="9525">
            <a:solidFill>
              <a:srgbClr val="F4EE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7467" y="46101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BF9465"/>
                </a:solidFill>
                <a:latin typeface="DM Serif Display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7467" y="5410200"/>
            <a:ext cx="1642533" cy="76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EEE4"/>
                </a:solidFill>
                <a:latin typeface="DM Sans"/>
              </a:rPr>
              <a:t>Les prix sont ceux en vigueur 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100">
                <a:solidFill>
                  <a:srgbClr val="6B645B"/>
                </a:solidFill>
                <a:latin typeface="DM Sans"/>
              </a:rPr>
              <a:t>nine · charte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279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 spc="100">
                <a:solidFill>
                  <a:srgbClr val="6B645B"/>
                </a:solidFill>
                <a:latin typeface="DM Sans"/>
              </a:rPr>
              <a:t>Pour finir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51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6B645B"/>
                </a:solidFill>
                <a:latin typeface="DM Sans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88900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1F1C18"/>
                </a:solidFill>
                <a:latin typeface="DM Serif Display"/>
              </a:rPr>
              <a:t>Ce qui reste à décider.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1C18"/>
                </a:solidFill>
                <a:latin typeface="DM Sans"/>
              </a:rPr>
              <a:t>Cette version 1 tranche le système. Quelques choix restent à confirmer avec Nine, sur pièce.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2413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600" y="25654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La tomate, sur papier.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8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Imprimer un échantillon (carte, sticker) avant de valider la couleur : un écran ment toujours un peu.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68800" y="2413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368800" y="25654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Le nom de domaine.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800" y="298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nine.fr et nine.com sont pris. Pistes déjà notées : nine44.fr, nine-services.fr. À choisir avant les cartes.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8000" y="2413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28000" y="25654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Les vraies photos.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298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Tous les emplacements « PHOTO » de ce document attendent les prestations tests de décembre.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" y="4445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09600" y="45974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Le site actuel.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01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Sa couleur d'accent et ses polices sont à aligner sur cette charte lors de la refonte.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68800" y="4445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368800" y="45974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Les mentions fiscales.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800" y="501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Le prix après crédit d'impôt apparaît partout dès le récépissé NOVA reçu, pas avant.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28000" y="4445000"/>
            <a:ext cx="3454400" cy="0"/>
          </a:xfrm>
          <a:prstGeom prst="line">
            <a:avLst/>
          </a:prstGeom>
          <a:ln w="19050">
            <a:solidFill>
              <a:srgbClr val="1F1C18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128000" y="4597400"/>
            <a:ext cx="3454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1C18"/>
                </a:solidFill>
                <a:latin typeface="DM Serif Display"/>
              </a:rPr>
              <a:t>La version 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501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1C18"/>
                </a:solidFill>
                <a:latin typeface="DM Sans"/>
              </a:rPr>
              <a:t>Après le bilan de janvier : ce qui a marché sur les réseaux devient la règle.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0" y="0"/>
            <a:ext cx="2286000" cy="2286000"/>
          </a:xfrm>
          <a:prstGeom prst="rect">
            <a:avLst/>
          </a:prstGeom>
          <a:solidFill>
            <a:srgbClr val="E545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nine-signature-c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59000"/>
            <a:ext cx="4445000" cy="22743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270500"/>
            <a:ext cx="7620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F4EEE4"/>
                </a:solidFill>
                <a:latin typeface="DM Serif Display"/>
              </a:rPr>
              <a:t>Vous réservez. Nine 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96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100">
                <a:solidFill>
                  <a:srgbClr val="6B645B"/>
                </a:solidFill>
                <a:latin typeface="DM Sans"/>
              </a:rPr>
              <a:t>Charte de marque · version 1 ·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